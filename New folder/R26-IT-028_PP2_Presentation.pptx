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rimo Bold Italics" panose="020B0604020202020204" charset="0"/>
      <p:regular r:id="rId11"/>
    </p:embeddedFont>
    <p:embeddedFont>
      <p:font typeface="Cambria" panose="02040503050406030204" pitchFamily="18" charset="0"/>
      <p:regular r:id="rId12"/>
      <p:bold r:id="rId13"/>
      <p:italic r:id="rId14"/>
      <p:boldItalic r:id="rId15"/>
    </p:embeddedFont>
    <p:embeddedFont>
      <p:font typeface="Cambria Bold" panose="02040803050406030204" pitchFamily="18" charset="0"/>
      <p:regular r:id="rId16"/>
      <p:bold r:id="rId17"/>
    </p:embeddedFont>
    <p:embeddedFont>
      <p:font typeface="Cambria Bold Italics" panose="020B0604020202020204" charset="0"/>
      <p:regular r:id="rId18"/>
    </p:embeddedFont>
    <p:embeddedFont>
      <p:font typeface="Childling" panose="020B0604020202020204" charset="0"/>
      <p:regular r:id="rId19"/>
    </p:embeddedFont>
    <p:embeddedFont>
      <p:font typeface="Magnolia Script" panose="020B0604020202020204" charset="0"/>
      <p:regular r:id="rId20"/>
    </p:embeddedFont>
    <p:embeddedFont>
      <p:font typeface="Montserrat Ultra-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53" y="7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jpe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59957"/>
            <a:ext cx="3771900" cy="735463"/>
            <a:chOff x="0" y="0"/>
            <a:chExt cx="5029200" cy="980618"/>
          </a:xfrm>
        </p:grpSpPr>
        <p:sp>
          <p:nvSpPr>
            <p:cNvPr id="3" name="Freeform 3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9559957"/>
            <a:ext cx="3771900" cy="735463"/>
            <a:chOff x="0" y="0"/>
            <a:chExt cx="5029200" cy="980618"/>
          </a:xfrm>
        </p:grpSpPr>
        <p:sp>
          <p:nvSpPr>
            <p:cNvPr id="5" name="Freeform 5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771900" y="8918513"/>
            <a:ext cx="10224545" cy="1980251"/>
            <a:chOff x="0" y="0"/>
            <a:chExt cx="13632726" cy="26403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32731" cy="2640335"/>
            </a:xfrm>
            <a:custGeom>
              <a:avLst/>
              <a:gdLst/>
              <a:ahLst/>
              <a:cxnLst/>
              <a:rect l="l" t="t" r="r" b="b"/>
              <a:pathLst>
                <a:path w="13632731" h="2640335">
                  <a:moveTo>
                    <a:pt x="0" y="0"/>
                  </a:moveTo>
                  <a:lnTo>
                    <a:pt x="13632731" y="0"/>
                  </a:lnTo>
                  <a:lnTo>
                    <a:pt x="13632731" y="2640335"/>
                  </a:lnTo>
                  <a:lnTo>
                    <a:pt x="0" y="2640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777" b="-14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3632726" cy="2659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RP-26-IT-028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562600" y="1500344"/>
            <a:ext cx="5591839" cy="774773"/>
            <a:chOff x="0" y="0"/>
            <a:chExt cx="1472748" cy="2040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72748" cy="204055"/>
            </a:xfrm>
            <a:custGeom>
              <a:avLst/>
              <a:gdLst/>
              <a:ahLst/>
              <a:cxnLst/>
              <a:rect l="l" t="t" r="r" b="b"/>
              <a:pathLst>
                <a:path w="1472748" h="204055">
                  <a:moveTo>
                    <a:pt x="53996" y="0"/>
                  </a:moveTo>
                  <a:lnTo>
                    <a:pt x="1418752" y="0"/>
                  </a:lnTo>
                  <a:cubicBezTo>
                    <a:pt x="1433073" y="0"/>
                    <a:pt x="1446807" y="5689"/>
                    <a:pt x="1456933" y="15815"/>
                  </a:cubicBezTo>
                  <a:cubicBezTo>
                    <a:pt x="1467059" y="25941"/>
                    <a:pt x="1472748" y="39675"/>
                    <a:pt x="1472748" y="53996"/>
                  </a:cubicBezTo>
                  <a:lnTo>
                    <a:pt x="1472748" y="150060"/>
                  </a:lnTo>
                  <a:cubicBezTo>
                    <a:pt x="1472748" y="164380"/>
                    <a:pt x="1467059" y="178114"/>
                    <a:pt x="1456933" y="188240"/>
                  </a:cubicBezTo>
                  <a:cubicBezTo>
                    <a:pt x="1446807" y="198367"/>
                    <a:pt x="1433073" y="204055"/>
                    <a:pt x="1418752" y="204055"/>
                  </a:cubicBezTo>
                  <a:lnTo>
                    <a:pt x="53996" y="204055"/>
                  </a:lnTo>
                  <a:cubicBezTo>
                    <a:pt x="39675" y="204055"/>
                    <a:pt x="25941" y="198367"/>
                    <a:pt x="15815" y="188240"/>
                  </a:cubicBezTo>
                  <a:cubicBezTo>
                    <a:pt x="5689" y="178114"/>
                    <a:pt x="0" y="164380"/>
                    <a:pt x="0" y="150060"/>
                  </a:cubicBezTo>
                  <a:lnTo>
                    <a:pt x="0" y="53996"/>
                  </a:lnTo>
                  <a:cubicBezTo>
                    <a:pt x="0" y="39675"/>
                    <a:pt x="5689" y="25941"/>
                    <a:pt x="15815" y="15815"/>
                  </a:cubicBezTo>
                  <a:cubicBezTo>
                    <a:pt x="25941" y="5689"/>
                    <a:pt x="39675" y="0"/>
                    <a:pt x="5399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72748" cy="2421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0" y="5143500"/>
            <a:ext cx="14839376" cy="6776187"/>
          </a:xfrm>
          <a:custGeom>
            <a:avLst/>
            <a:gdLst/>
            <a:ahLst/>
            <a:cxnLst/>
            <a:rect l="l" t="t" r="r" b="b"/>
            <a:pathLst>
              <a:path w="14839376" h="6776187">
                <a:moveTo>
                  <a:pt x="0" y="0"/>
                </a:moveTo>
                <a:lnTo>
                  <a:pt x="14839376" y="0"/>
                </a:lnTo>
                <a:lnTo>
                  <a:pt x="14839376" y="6776187"/>
                </a:lnTo>
                <a:lnTo>
                  <a:pt x="0" y="6776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4487" b="-1141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3032938" y="3689338"/>
            <a:ext cx="8105648" cy="6387175"/>
            <a:chOff x="0" y="0"/>
            <a:chExt cx="9797023" cy="77199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798293" cy="7719961"/>
            </a:xfrm>
            <a:custGeom>
              <a:avLst/>
              <a:gdLst/>
              <a:ahLst/>
              <a:cxnLst/>
              <a:rect l="l" t="t" r="r" b="b"/>
              <a:pathLst>
                <a:path w="9798293" h="7719961">
                  <a:moveTo>
                    <a:pt x="6581777" y="7719961"/>
                  </a:moveTo>
                  <a:lnTo>
                    <a:pt x="0" y="7719961"/>
                  </a:lnTo>
                  <a:lnTo>
                    <a:pt x="0" y="6121235"/>
                  </a:lnTo>
                  <a:cubicBezTo>
                    <a:pt x="0" y="2739790"/>
                    <a:pt x="2945923" y="0"/>
                    <a:pt x="6581777" y="0"/>
                  </a:cubicBezTo>
                  <a:lnTo>
                    <a:pt x="9798293" y="3859208"/>
                  </a:lnTo>
                  <a:lnTo>
                    <a:pt x="6581777" y="7719961"/>
                  </a:lnTo>
                  <a:close/>
                </a:path>
              </a:pathLst>
            </a:custGeom>
            <a:blipFill>
              <a:blip r:embed="rId5"/>
              <a:stretch>
                <a:fillRect l="-9128" r="-91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69052" y="561863"/>
            <a:ext cx="15616710" cy="159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205"/>
              </a:lnSpc>
              <a:spcBef>
                <a:spcPct val="0"/>
              </a:spcBef>
            </a:pPr>
            <a:r>
              <a:rPr lang="en-US" sz="5214" u="none" strike="noStrike" dirty="0">
                <a:solidFill>
                  <a:srgbClr val="3B3A3A"/>
                </a:solidFill>
                <a:latin typeface="Childling"/>
                <a:ea typeface="Childling"/>
                <a:cs typeface="Childling"/>
                <a:sym typeface="Childling"/>
              </a:rPr>
              <a:t> Design and Development of </a:t>
            </a:r>
            <a:r>
              <a:rPr lang="en-US" sz="5214" u="none" strike="noStrike" dirty="0">
                <a:solidFill>
                  <a:srgbClr val="D40000"/>
                </a:solidFill>
                <a:latin typeface="Childling"/>
                <a:ea typeface="Childling"/>
                <a:cs typeface="Childling"/>
                <a:sym typeface="Childling"/>
              </a:rPr>
              <a:t>IoT-Based</a:t>
            </a:r>
            <a:r>
              <a:rPr lang="en-US" sz="5214" u="none" strike="noStrike" dirty="0">
                <a:solidFill>
                  <a:srgbClr val="3B3A3A"/>
                </a:solidFill>
                <a:latin typeface="Childling"/>
                <a:ea typeface="Childling"/>
                <a:cs typeface="Childling"/>
                <a:sym typeface="Childling"/>
              </a:rPr>
              <a:t> Smart</a:t>
            </a:r>
            <a:r>
              <a:rPr lang="en-US" sz="5214" u="none" strike="noStrike" dirty="0">
                <a:solidFill>
                  <a:srgbClr val="DDA707"/>
                </a:solidFill>
                <a:latin typeface="Childling"/>
                <a:ea typeface="Childling"/>
                <a:cs typeface="Childling"/>
                <a:sym typeface="Childling"/>
              </a:rPr>
              <a:t>  </a:t>
            </a:r>
          </a:p>
          <a:p>
            <a:pPr marL="0" lvl="0" indent="0" algn="ctr">
              <a:lnSpc>
                <a:spcPts val="6205"/>
              </a:lnSpc>
              <a:spcBef>
                <a:spcPct val="0"/>
              </a:spcBef>
            </a:pPr>
            <a:r>
              <a:rPr lang="en-US" sz="5214" u="none" strike="noStrike" dirty="0">
                <a:solidFill>
                  <a:srgbClr val="FFFFFF"/>
                </a:solidFill>
                <a:latin typeface="Childling"/>
                <a:ea typeface="Childling"/>
                <a:cs typeface="Childling"/>
                <a:sym typeface="Childling"/>
              </a:rPr>
              <a:t>Maldive Fish Processing</a:t>
            </a:r>
            <a:r>
              <a:rPr lang="en-US" sz="5214" u="none" strike="noStrike" dirty="0">
                <a:solidFill>
                  <a:srgbClr val="3B3A3A"/>
                </a:solidFill>
                <a:latin typeface="Childling"/>
                <a:ea typeface="Childling"/>
                <a:cs typeface="Childling"/>
                <a:sym typeface="Childling"/>
              </a:rPr>
              <a:t>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28328" y="1459864"/>
            <a:ext cx="3285879" cy="328587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35612" y="0"/>
                  </a:moveTo>
                  <a:lnTo>
                    <a:pt x="577188" y="0"/>
                  </a:lnTo>
                  <a:cubicBezTo>
                    <a:pt x="639676" y="0"/>
                    <a:pt x="699605" y="24823"/>
                    <a:pt x="743791" y="69009"/>
                  </a:cubicBezTo>
                  <a:cubicBezTo>
                    <a:pt x="787977" y="113195"/>
                    <a:pt x="812800" y="173124"/>
                    <a:pt x="812800" y="235612"/>
                  </a:cubicBezTo>
                  <a:lnTo>
                    <a:pt x="812800" y="577188"/>
                  </a:lnTo>
                  <a:cubicBezTo>
                    <a:pt x="812800" y="639676"/>
                    <a:pt x="787977" y="699605"/>
                    <a:pt x="743791" y="743791"/>
                  </a:cubicBezTo>
                  <a:cubicBezTo>
                    <a:pt x="699605" y="787977"/>
                    <a:pt x="639676" y="812800"/>
                    <a:pt x="577188" y="812800"/>
                  </a:cubicBezTo>
                  <a:lnTo>
                    <a:pt x="235612" y="812800"/>
                  </a:lnTo>
                  <a:cubicBezTo>
                    <a:pt x="173124" y="812800"/>
                    <a:pt x="113195" y="787977"/>
                    <a:pt x="69009" y="743791"/>
                  </a:cubicBezTo>
                  <a:cubicBezTo>
                    <a:pt x="24823" y="699605"/>
                    <a:pt x="0" y="639676"/>
                    <a:pt x="0" y="577188"/>
                  </a:cubicBezTo>
                  <a:lnTo>
                    <a:pt x="0" y="235612"/>
                  </a:lnTo>
                  <a:cubicBezTo>
                    <a:pt x="0" y="173124"/>
                    <a:pt x="24823" y="113195"/>
                    <a:pt x="69009" y="69009"/>
                  </a:cubicBezTo>
                  <a:cubicBezTo>
                    <a:pt x="113195" y="24823"/>
                    <a:pt x="173124" y="0"/>
                    <a:pt x="235612" y="0"/>
                  </a:cubicBezTo>
                  <a:close/>
                </a:path>
              </a:pathLst>
            </a:custGeom>
            <a:blipFill>
              <a:blip r:embed="rId2"/>
              <a:stretch>
                <a:fillRect t="-8910" b="-891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05907" y="1459864"/>
            <a:ext cx="3285879" cy="328587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35612" y="0"/>
                  </a:moveTo>
                  <a:lnTo>
                    <a:pt x="577188" y="0"/>
                  </a:lnTo>
                  <a:cubicBezTo>
                    <a:pt x="639676" y="0"/>
                    <a:pt x="699605" y="24823"/>
                    <a:pt x="743791" y="69009"/>
                  </a:cubicBezTo>
                  <a:cubicBezTo>
                    <a:pt x="787977" y="113195"/>
                    <a:pt x="812800" y="173124"/>
                    <a:pt x="812800" y="235612"/>
                  </a:cubicBezTo>
                  <a:lnTo>
                    <a:pt x="812800" y="577188"/>
                  </a:lnTo>
                  <a:cubicBezTo>
                    <a:pt x="812800" y="639676"/>
                    <a:pt x="787977" y="699605"/>
                    <a:pt x="743791" y="743791"/>
                  </a:cubicBezTo>
                  <a:cubicBezTo>
                    <a:pt x="699605" y="787977"/>
                    <a:pt x="639676" y="812800"/>
                    <a:pt x="577188" y="812800"/>
                  </a:cubicBezTo>
                  <a:lnTo>
                    <a:pt x="235612" y="812800"/>
                  </a:lnTo>
                  <a:cubicBezTo>
                    <a:pt x="173124" y="812800"/>
                    <a:pt x="113195" y="787977"/>
                    <a:pt x="69009" y="743791"/>
                  </a:cubicBezTo>
                  <a:cubicBezTo>
                    <a:pt x="24823" y="699605"/>
                    <a:pt x="0" y="639676"/>
                    <a:pt x="0" y="577188"/>
                  </a:cubicBezTo>
                  <a:lnTo>
                    <a:pt x="0" y="235612"/>
                  </a:lnTo>
                  <a:cubicBezTo>
                    <a:pt x="0" y="173124"/>
                    <a:pt x="24823" y="113195"/>
                    <a:pt x="69009" y="69009"/>
                  </a:cubicBezTo>
                  <a:cubicBezTo>
                    <a:pt x="113195" y="24823"/>
                    <a:pt x="173124" y="0"/>
                    <a:pt x="235612" y="0"/>
                  </a:cubicBezTo>
                  <a:close/>
                </a:path>
              </a:pathLst>
            </a:custGeom>
            <a:blipFill>
              <a:blip r:embed="rId3"/>
              <a:stretch>
                <a:fillRect t="-4644" b="-46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912952" y="3645023"/>
            <a:ext cx="5389733" cy="538973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ln w="57150" cap="rnd">
              <a:solidFill>
                <a:srgbClr val="8D9193"/>
              </a:solidFill>
              <a:prstDash val="sysDot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340517" y="3351904"/>
            <a:ext cx="534603" cy="53460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66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340517" y="8723697"/>
            <a:ext cx="534603" cy="53460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A70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41887" y="7326355"/>
            <a:ext cx="534603" cy="534603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AEB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665462" y="7326355"/>
            <a:ext cx="534603" cy="534603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667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912952" y="4976796"/>
            <a:ext cx="534603" cy="534603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667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665462" y="4901431"/>
            <a:ext cx="534603" cy="534603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AEB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645651" y="5966300"/>
            <a:ext cx="534603" cy="534603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66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592248" y="6872378"/>
            <a:ext cx="2488671" cy="2488671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311087" y="0"/>
                  </a:moveTo>
                  <a:lnTo>
                    <a:pt x="501713" y="0"/>
                  </a:lnTo>
                  <a:cubicBezTo>
                    <a:pt x="673522" y="0"/>
                    <a:pt x="812800" y="139278"/>
                    <a:pt x="812800" y="311087"/>
                  </a:cubicBezTo>
                  <a:lnTo>
                    <a:pt x="812800" y="501713"/>
                  </a:lnTo>
                  <a:cubicBezTo>
                    <a:pt x="812800" y="673522"/>
                    <a:pt x="673522" y="812800"/>
                    <a:pt x="501713" y="812800"/>
                  </a:cubicBezTo>
                  <a:lnTo>
                    <a:pt x="311087" y="812800"/>
                  </a:lnTo>
                  <a:cubicBezTo>
                    <a:pt x="139278" y="812800"/>
                    <a:pt x="0" y="673522"/>
                    <a:pt x="0" y="501713"/>
                  </a:cubicBezTo>
                  <a:lnTo>
                    <a:pt x="0" y="311087"/>
                  </a:lnTo>
                  <a:cubicBezTo>
                    <a:pt x="0" y="139278"/>
                    <a:pt x="139278" y="0"/>
                    <a:pt x="311087" y="0"/>
                  </a:cubicBezTo>
                  <a:close/>
                </a:path>
              </a:pathLst>
            </a:custGeom>
            <a:blipFill>
              <a:blip r:embed="rId4"/>
              <a:stretch>
                <a:fillRect t="-4607" b="-2396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046177" y="6769629"/>
            <a:ext cx="2488671" cy="2488671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311087" y="0"/>
                  </a:moveTo>
                  <a:lnTo>
                    <a:pt x="501713" y="0"/>
                  </a:lnTo>
                  <a:cubicBezTo>
                    <a:pt x="673522" y="0"/>
                    <a:pt x="812800" y="139278"/>
                    <a:pt x="812800" y="311087"/>
                  </a:cubicBezTo>
                  <a:lnTo>
                    <a:pt x="812800" y="501713"/>
                  </a:lnTo>
                  <a:cubicBezTo>
                    <a:pt x="812800" y="673522"/>
                    <a:pt x="673522" y="812800"/>
                    <a:pt x="501713" y="812800"/>
                  </a:cubicBezTo>
                  <a:lnTo>
                    <a:pt x="311087" y="812800"/>
                  </a:lnTo>
                  <a:cubicBezTo>
                    <a:pt x="139278" y="812800"/>
                    <a:pt x="0" y="673522"/>
                    <a:pt x="0" y="501713"/>
                  </a:cubicBezTo>
                  <a:lnTo>
                    <a:pt x="0" y="311087"/>
                  </a:lnTo>
                  <a:cubicBezTo>
                    <a:pt x="0" y="139278"/>
                    <a:pt x="139278" y="0"/>
                    <a:pt x="311087" y="0"/>
                  </a:cubicBezTo>
                  <a:close/>
                </a:path>
              </a:pathLst>
            </a:custGeom>
            <a:blipFill>
              <a:blip r:embed="rId5"/>
              <a:stretch>
                <a:fillRect b="-285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046177" y="3208902"/>
            <a:ext cx="2488671" cy="2488671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311087" y="0"/>
                  </a:moveTo>
                  <a:lnTo>
                    <a:pt x="501713" y="0"/>
                  </a:lnTo>
                  <a:cubicBezTo>
                    <a:pt x="673522" y="0"/>
                    <a:pt x="812800" y="139278"/>
                    <a:pt x="812800" y="311087"/>
                  </a:cubicBezTo>
                  <a:lnTo>
                    <a:pt x="812800" y="501713"/>
                  </a:lnTo>
                  <a:cubicBezTo>
                    <a:pt x="812800" y="673522"/>
                    <a:pt x="673522" y="812800"/>
                    <a:pt x="501713" y="812800"/>
                  </a:cubicBezTo>
                  <a:lnTo>
                    <a:pt x="311087" y="812800"/>
                  </a:lnTo>
                  <a:cubicBezTo>
                    <a:pt x="139278" y="812800"/>
                    <a:pt x="0" y="673522"/>
                    <a:pt x="0" y="501713"/>
                  </a:cubicBezTo>
                  <a:lnTo>
                    <a:pt x="0" y="311087"/>
                  </a:lnTo>
                  <a:cubicBezTo>
                    <a:pt x="0" y="139278"/>
                    <a:pt x="139278" y="0"/>
                    <a:pt x="311087" y="0"/>
                  </a:cubicBezTo>
                  <a:close/>
                </a:path>
              </a:pathLst>
            </a:custGeom>
            <a:blipFill>
              <a:blip r:embed="rId6"/>
              <a:stretch>
                <a:fillRect l="-175" r="-17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592248" y="3102804"/>
            <a:ext cx="2488671" cy="2488671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311087" y="0"/>
                  </a:moveTo>
                  <a:lnTo>
                    <a:pt x="501713" y="0"/>
                  </a:lnTo>
                  <a:cubicBezTo>
                    <a:pt x="673522" y="0"/>
                    <a:pt x="812800" y="139278"/>
                    <a:pt x="812800" y="311087"/>
                  </a:cubicBezTo>
                  <a:lnTo>
                    <a:pt x="812800" y="501713"/>
                  </a:lnTo>
                  <a:cubicBezTo>
                    <a:pt x="812800" y="673522"/>
                    <a:pt x="673522" y="812800"/>
                    <a:pt x="501713" y="812800"/>
                  </a:cubicBezTo>
                  <a:lnTo>
                    <a:pt x="311087" y="812800"/>
                  </a:lnTo>
                  <a:cubicBezTo>
                    <a:pt x="139278" y="812800"/>
                    <a:pt x="0" y="673522"/>
                    <a:pt x="0" y="501713"/>
                  </a:cubicBezTo>
                  <a:lnTo>
                    <a:pt x="0" y="311087"/>
                  </a:lnTo>
                  <a:cubicBezTo>
                    <a:pt x="0" y="139278"/>
                    <a:pt x="139278" y="0"/>
                    <a:pt x="311087" y="0"/>
                  </a:cubicBezTo>
                  <a:close/>
                </a:path>
              </a:pathLst>
            </a:custGeom>
            <a:blipFill>
              <a:blip r:embed="rId7"/>
              <a:stretch>
                <a:fillRect l="-2946" t="-446" b="-2625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245136" y="4859373"/>
            <a:ext cx="396857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Mr. Supunya Swarnakantha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30132" y="5268948"/>
            <a:ext cx="1598576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Supervisor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287260" y="4859373"/>
            <a:ext cx="3168015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Ms. Dulani Jayasinghe</a:t>
            </a:r>
          </a:p>
          <a:p>
            <a:pPr algn="ctr">
              <a:lnSpc>
                <a:spcPts val="3240"/>
              </a:lnSpc>
              <a:spcBef>
                <a:spcPct val="0"/>
              </a:spcBef>
            </a:pPr>
            <a:endParaRPr lang="en-US" sz="27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5752134" y="5268948"/>
            <a:ext cx="223826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 - Supervisor</a:t>
            </a:r>
          </a:p>
        </p:txBody>
      </p:sp>
      <p:sp>
        <p:nvSpPr>
          <p:cNvPr id="42" name="Freeform 42"/>
          <p:cNvSpPr/>
          <p:nvPr/>
        </p:nvSpPr>
        <p:spPr>
          <a:xfrm>
            <a:off x="-3543512" y="7326355"/>
            <a:ext cx="6015263" cy="5730905"/>
          </a:xfrm>
          <a:custGeom>
            <a:avLst/>
            <a:gdLst/>
            <a:ahLst/>
            <a:cxnLst/>
            <a:rect l="l" t="t" r="r" b="b"/>
            <a:pathLst>
              <a:path w="6015263" h="5730905">
                <a:moveTo>
                  <a:pt x="0" y="0"/>
                </a:moveTo>
                <a:lnTo>
                  <a:pt x="6015263" y="0"/>
                </a:lnTo>
                <a:lnTo>
                  <a:pt x="6015263" y="5730905"/>
                </a:lnTo>
                <a:lnTo>
                  <a:pt x="0" y="5730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2229421" y="8040723"/>
            <a:ext cx="4519494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RP- 26-IT-028</a:t>
            </a:r>
          </a:p>
        </p:txBody>
      </p:sp>
      <p:sp>
        <p:nvSpPr>
          <p:cNvPr id="44" name="Freeform 44"/>
          <p:cNvSpPr/>
          <p:nvPr/>
        </p:nvSpPr>
        <p:spPr>
          <a:xfrm rot="249714">
            <a:off x="14851949" y="-3744663"/>
            <a:ext cx="9889586" cy="7516085"/>
          </a:xfrm>
          <a:custGeom>
            <a:avLst/>
            <a:gdLst/>
            <a:ahLst/>
            <a:cxnLst/>
            <a:rect l="l" t="t" r="r" b="b"/>
            <a:pathLst>
              <a:path w="9889586" h="7516085">
                <a:moveTo>
                  <a:pt x="0" y="0"/>
                </a:moveTo>
                <a:lnTo>
                  <a:pt x="9889586" y="0"/>
                </a:lnTo>
                <a:lnTo>
                  <a:pt x="9889586" y="7516085"/>
                </a:lnTo>
                <a:lnTo>
                  <a:pt x="0" y="75160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5" name="Freeform 45"/>
          <p:cNvSpPr/>
          <p:nvPr/>
        </p:nvSpPr>
        <p:spPr>
          <a:xfrm rot="10229885">
            <a:off x="-2805197" y="-2270482"/>
            <a:ext cx="10069235" cy="3991079"/>
          </a:xfrm>
          <a:custGeom>
            <a:avLst/>
            <a:gdLst/>
            <a:ahLst/>
            <a:cxnLst/>
            <a:rect l="l" t="t" r="r" b="b"/>
            <a:pathLst>
              <a:path w="10069235" h="3991079">
                <a:moveTo>
                  <a:pt x="0" y="0"/>
                </a:moveTo>
                <a:lnTo>
                  <a:pt x="10069235" y="0"/>
                </a:lnTo>
                <a:lnTo>
                  <a:pt x="10069235" y="3991079"/>
                </a:lnTo>
                <a:lnTo>
                  <a:pt x="0" y="399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6" name="Freeform 46"/>
          <p:cNvSpPr/>
          <p:nvPr/>
        </p:nvSpPr>
        <p:spPr>
          <a:xfrm>
            <a:off x="10912952" y="8639175"/>
            <a:ext cx="10069235" cy="3991079"/>
          </a:xfrm>
          <a:custGeom>
            <a:avLst/>
            <a:gdLst/>
            <a:ahLst/>
            <a:cxnLst/>
            <a:rect l="l" t="t" r="r" b="b"/>
            <a:pathLst>
              <a:path w="10069235" h="3991079">
                <a:moveTo>
                  <a:pt x="0" y="0"/>
                </a:moveTo>
                <a:lnTo>
                  <a:pt x="10069235" y="0"/>
                </a:lnTo>
                <a:lnTo>
                  <a:pt x="10069235" y="3991079"/>
                </a:lnTo>
                <a:lnTo>
                  <a:pt x="0" y="399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47" name="Group 47"/>
          <p:cNvGrpSpPr/>
          <p:nvPr/>
        </p:nvGrpSpPr>
        <p:grpSpPr>
          <a:xfrm>
            <a:off x="16035384" y="5966300"/>
            <a:ext cx="534603" cy="534603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66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340517" y="8723697"/>
            <a:ext cx="534603" cy="534603"/>
            <a:chOff x="0" y="0"/>
            <a:chExt cx="812800" cy="812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66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1161156" y="2523763"/>
            <a:ext cx="4893326" cy="448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65"/>
              </a:lnSpc>
            </a:pPr>
            <a:r>
              <a:rPr lang="en-US" sz="3269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OUR TEAM MEMBERS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59957"/>
            <a:ext cx="3771900" cy="735463"/>
            <a:chOff x="0" y="0"/>
            <a:chExt cx="5029200" cy="980618"/>
          </a:xfrm>
        </p:grpSpPr>
        <p:sp>
          <p:nvSpPr>
            <p:cNvPr id="3" name="Freeform 3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221041" y="9213607"/>
            <a:ext cx="18288000" cy="271643"/>
            <a:chOff x="0" y="0"/>
            <a:chExt cx="24384000" cy="3621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362204"/>
            </a:xfrm>
            <a:custGeom>
              <a:avLst/>
              <a:gdLst/>
              <a:ahLst/>
              <a:cxnLst/>
              <a:rect l="l" t="t" r="r" b="b"/>
              <a:pathLst>
                <a:path w="24384000" h="362204">
                  <a:moveTo>
                    <a:pt x="0" y="362204"/>
                  </a:moveTo>
                  <a:lnTo>
                    <a:pt x="9606534" y="0"/>
                  </a:lnTo>
                  <a:lnTo>
                    <a:pt x="24384000" y="362204"/>
                  </a:ln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907905" y="8937563"/>
            <a:ext cx="10224545" cy="1980251"/>
            <a:chOff x="0" y="0"/>
            <a:chExt cx="13632726" cy="26403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32731" cy="2640335"/>
            </a:xfrm>
            <a:custGeom>
              <a:avLst/>
              <a:gdLst/>
              <a:ahLst/>
              <a:cxnLst/>
              <a:rect l="l" t="t" r="r" b="b"/>
              <a:pathLst>
                <a:path w="13632731" h="2640335">
                  <a:moveTo>
                    <a:pt x="0" y="0"/>
                  </a:moveTo>
                  <a:lnTo>
                    <a:pt x="13632731" y="0"/>
                  </a:lnTo>
                  <a:lnTo>
                    <a:pt x="13632731" y="2640335"/>
                  </a:lnTo>
                  <a:lnTo>
                    <a:pt x="0" y="2640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777" b="-14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3632726" cy="2659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RP-26-IT-028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018179" y="3938267"/>
            <a:ext cx="9124587" cy="7318931"/>
            <a:chOff x="-67621" y="-995174"/>
            <a:chExt cx="12336750" cy="989544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269129" cy="8900268"/>
            </a:xfrm>
            <a:custGeom>
              <a:avLst/>
              <a:gdLst/>
              <a:ahLst/>
              <a:cxnLst/>
              <a:rect l="l" t="t" r="r" b="b"/>
              <a:pathLst>
                <a:path w="12269129" h="8900268">
                  <a:moveTo>
                    <a:pt x="0" y="0"/>
                  </a:moveTo>
                  <a:lnTo>
                    <a:pt x="12269129" y="0"/>
                  </a:lnTo>
                  <a:lnTo>
                    <a:pt x="12269129" y="8900268"/>
                  </a:lnTo>
                  <a:lnTo>
                    <a:pt x="0" y="89002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39" r="-71870" b="609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-67621" y="-995174"/>
              <a:ext cx="12269129" cy="890978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599"/>
                </a:lnSpc>
              </a:pPr>
              <a:r>
                <a:rPr lang="en-US" sz="2999" b="1" dirty="0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Observed Problems</a:t>
              </a:r>
            </a:p>
            <a:p>
              <a:pPr marL="647698" lvl="1" indent="-323849" algn="l">
                <a:lnSpc>
                  <a:spcPts val="3599"/>
                </a:lnSpc>
                <a:buFont typeface="Arial"/>
                <a:buChar char="•"/>
              </a:pPr>
              <a:r>
                <a:rPr lang="en-US" sz="2999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Raw fish quality checking is mainly manual</a:t>
              </a:r>
            </a:p>
            <a:p>
              <a:pPr marL="647698" lvl="1" indent="-323849" algn="l">
                <a:lnSpc>
                  <a:spcPts val="3599"/>
                </a:lnSpc>
                <a:buFont typeface="Arial"/>
                <a:buChar char="•"/>
              </a:pPr>
              <a:r>
                <a:rPr lang="en-US" sz="2999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Manual grading can cause human errors</a:t>
              </a:r>
            </a:p>
            <a:p>
              <a:pPr marL="647698" lvl="1" indent="-323849" algn="l">
                <a:lnSpc>
                  <a:spcPts val="3599"/>
                </a:lnSpc>
                <a:buFont typeface="Arial"/>
                <a:buChar char="•"/>
              </a:pPr>
              <a:r>
                <a:rPr lang="en-US" sz="2999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Fish thickness and weight are not consistently measured</a:t>
              </a:r>
            </a:p>
            <a:p>
              <a:pPr marL="647698" lvl="1" indent="-323849" algn="l">
                <a:lnSpc>
                  <a:spcPts val="3599"/>
                </a:lnSpc>
                <a:buFont typeface="Arial"/>
                <a:buChar char="•"/>
              </a:pPr>
              <a:r>
                <a:rPr lang="en-US" sz="2999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Drying conditions are difficult to monitor continuously</a:t>
              </a:r>
            </a:p>
            <a:p>
              <a:pPr marL="647698" lvl="1" indent="-323849" algn="l">
                <a:lnSpc>
                  <a:spcPts val="3599"/>
                </a:lnSpc>
                <a:buFont typeface="Arial"/>
                <a:buChar char="•"/>
              </a:pPr>
              <a:r>
                <a:rPr lang="en-US" sz="2999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Dried fish quality inspection is time-consuming</a:t>
              </a:r>
            </a:p>
            <a:p>
              <a:pPr marL="647698" lvl="1" indent="-323849" algn="l">
                <a:lnSpc>
                  <a:spcPts val="3599"/>
                </a:lnSpc>
                <a:buFont typeface="Arial"/>
                <a:buChar char="•"/>
              </a:pPr>
              <a:r>
                <a:rPr lang="en-US" sz="2999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Spoiled or low-quality fish may reach the final product</a:t>
              </a:r>
            </a:p>
            <a:p>
              <a:pPr algn="l">
                <a:lnSpc>
                  <a:spcPts val="3359"/>
                </a:lnSpc>
              </a:pPr>
              <a:endParaRPr lang="en-US" sz="2999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800653" y="-1256442"/>
            <a:ext cx="9278650" cy="5360685"/>
            <a:chOff x="0" y="-961823"/>
            <a:chExt cx="12545048" cy="7247827"/>
          </a:xfrm>
        </p:grpSpPr>
        <p:sp>
          <p:nvSpPr>
            <p:cNvPr id="13" name="Freeform 13"/>
            <p:cNvSpPr/>
            <p:nvPr/>
          </p:nvSpPr>
          <p:spPr>
            <a:xfrm>
              <a:off x="275919" y="-961823"/>
              <a:ext cx="12269129" cy="6286009"/>
            </a:xfrm>
            <a:custGeom>
              <a:avLst/>
              <a:gdLst/>
              <a:ahLst/>
              <a:cxnLst/>
              <a:rect l="l" t="t" r="r" b="b"/>
              <a:pathLst>
                <a:path w="12269129" h="6286009">
                  <a:moveTo>
                    <a:pt x="0" y="0"/>
                  </a:moveTo>
                  <a:lnTo>
                    <a:pt x="12269129" y="0"/>
                  </a:lnTo>
                  <a:lnTo>
                    <a:pt x="12269129" y="6286009"/>
                  </a:lnTo>
                  <a:lnTo>
                    <a:pt x="0" y="62860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39" r="-71870" b="-329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2269129" cy="62955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599"/>
                </a:lnSpc>
              </a:pPr>
              <a:r>
                <a:rPr lang="en-US" sz="2999" b="1" dirty="0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Context</a:t>
              </a:r>
            </a:p>
            <a:p>
              <a:pPr algn="l">
                <a:lnSpc>
                  <a:spcPts val="3599"/>
                </a:lnSpc>
              </a:pPr>
              <a:endParaRPr lang="en-US" sz="29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endParaRPr>
            </a:p>
            <a:p>
              <a:pPr algn="l">
                <a:lnSpc>
                  <a:spcPts val="3599"/>
                </a:lnSpc>
              </a:pPr>
              <a:endParaRPr lang="en-US" sz="29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endParaRPr>
            </a:p>
            <a:p>
              <a:pPr algn="l">
                <a:lnSpc>
                  <a:spcPts val="3599"/>
                </a:lnSpc>
              </a:pPr>
              <a:endParaRPr lang="en-US" sz="29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endParaRPr>
            </a:p>
            <a:p>
              <a:pPr algn="l">
                <a:lnSpc>
                  <a:spcPts val="3599"/>
                </a:lnSpc>
              </a:pPr>
              <a:endParaRPr lang="en-US" sz="29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endParaRPr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 rot="1789398">
            <a:off x="162400" y="2814708"/>
            <a:ext cx="5355435" cy="5291168"/>
            <a:chOff x="0" y="0"/>
            <a:chExt cx="4572000" cy="4517135"/>
          </a:xfrm>
        </p:grpSpPr>
        <p:sp>
          <p:nvSpPr>
            <p:cNvPr id="16" name="Freeform 16"/>
            <p:cNvSpPr/>
            <p:nvPr/>
          </p:nvSpPr>
          <p:spPr>
            <a:xfrm>
              <a:off x="56" y="513"/>
              <a:ext cx="4571980" cy="4516120"/>
            </a:xfrm>
            <a:custGeom>
              <a:avLst/>
              <a:gdLst/>
              <a:ahLst/>
              <a:cxnLst/>
              <a:rect l="l" t="t" r="r" b="b"/>
              <a:pathLst>
                <a:path w="4571980" h="4516120">
                  <a:moveTo>
                    <a:pt x="2625851" y="4304528"/>
                  </a:moveTo>
                  <a:cubicBezTo>
                    <a:pt x="2921033" y="4133201"/>
                    <a:pt x="3157857" y="3863670"/>
                    <a:pt x="3286333" y="3517500"/>
                  </a:cubicBezTo>
                  <a:cubicBezTo>
                    <a:pt x="3350757" y="3343915"/>
                    <a:pt x="3446003" y="3169721"/>
                    <a:pt x="3606759" y="3077855"/>
                  </a:cubicBezTo>
                  <a:cubicBezTo>
                    <a:pt x="3730733" y="3007011"/>
                    <a:pt x="3878617" y="2993695"/>
                    <a:pt x="4012778" y="2944817"/>
                  </a:cubicBezTo>
                  <a:cubicBezTo>
                    <a:pt x="4395008" y="2805565"/>
                    <a:pt x="4622861" y="2363132"/>
                    <a:pt x="4562274" y="1960870"/>
                  </a:cubicBezTo>
                  <a:cubicBezTo>
                    <a:pt x="4501687" y="1558606"/>
                    <a:pt x="4187520" y="1218860"/>
                    <a:pt x="3806807" y="1075508"/>
                  </a:cubicBezTo>
                  <a:cubicBezTo>
                    <a:pt x="3593093" y="995039"/>
                    <a:pt x="3379154" y="1012626"/>
                    <a:pt x="3167147" y="927755"/>
                  </a:cubicBezTo>
                  <a:cubicBezTo>
                    <a:pt x="2880240" y="812900"/>
                    <a:pt x="2630210" y="554377"/>
                    <a:pt x="2386066" y="364902"/>
                  </a:cubicBezTo>
                  <a:cubicBezTo>
                    <a:pt x="2141922" y="175426"/>
                    <a:pt x="1861139" y="2708"/>
                    <a:pt x="1552106" y="28"/>
                  </a:cubicBezTo>
                  <a:cubicBezTo>
                    <a:pt x="1179425" y="-3203"/>
                    <a:pt x="823018" y="276043"/>
                    <a:pt x="736997" y="638670"/>
                  </a:cubicBezTo>
                  <a:cubicBezTo>
                    <a:pt x="697719" y="804254"/>
                    <a:pt x="710125" y="977519"/>
                    <a:pt x="687974" y="1146250"/>
                  </a:cubicBezTo>
                  <a:cubicBezTo>
                    <a:pt x="602789" y="1795089"/>
                    <a:pt x="21501" y="2313971"/>
                    <a:pt x="552" y="2968042"/>
                  </a:cubicBezTo>
                  <a:cubicBezTo>
                    <a:pt x="-16610" y="3503877"/>
                    <a:pt x="368713" y="3991750"/>
                    <a:pt x="846422" y="4235089"/>
                  </a:cubicBezTo>
                  <a:cubicBezTo>
                    <a:pt x="1095379" y="4361905"/>
                    <a:pt x="1355090" y="4472021"/>
                    <a:pt x="1634945" y="4504757"/>
                  </a:cubicBezTo>
                  <a:cubicBezTo>
                    <a:pt x="1989959" y="4546286"/>
                    <a:pt x="2336033" y="4472741"/>
                    <a:pt x="2625851" y="4304528"/>
                  </a:cubicBezTo>
                  <a:close/>
                </a:path>
              </a:pathLst>
            </a:custGeom>
            <a:blipFill>
              <a:blip r:embed="rId4"/>
              <a:stretch>
                <a:fillRect l="-24130" r="-2413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4572000" cy="4517135"/>
            </a:xfrm>
            <a:custGeom>
              <a:avLst/>
              <a:gdLst/>
              <a:ahLst/>
              <a:cxnLst/>
              <a:rect l="l" t="t" r="r" b="b"/>
              <a:pathLst>
                <a:path w="4572000" h="4517135">
                  <a:moveTo>
                    <a:pt x="4572000" y="4517135"/>
                  </a:moveTo>
                  <a:lnTo>
                    <a:pt x="0" y="4517135"/>
                  </a:lnTo>
                  <a:lnTo>
                    <a:pt x="0" y="0"/>
                  </a:lnTo>
                  <a:lnTo>
                    <a:pt x="4572000" y="0"/>
                  </a:lnTo>
                  <a:lnTo>
                    <a:pt x="4572000" y="4517135"/>
                  </a:lnTo>
                  <a:close/>
                </a:path>
              </a:pathLst>
            </a:custGeom>
            <a:blipFill>
              <a:blip r:embed="rId5"/>
              <a:stretch>
                <a:fillRect l="-25" r="-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725714" y="3710257"/>
            <a:ext cx="5246370" cy="524637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73050" t="-7647" b="-764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607097" y="224117"/>
            <a:ext cx="1362350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899" b="1" i="1">
                <a:solidFill>
                  <a:srgbClr val="000000"/>
                </a:solidFill>
                <a:latin typeface="Cambria Bold Italics"/>
                <a:ea typeface="Cambria Bold Italics"/>
                <a:cs typeface="Cambria Bold Italics"/>
                <a:sym typeface="Cambria Bold Italics"/>
              </a:rPr>
              <a:t> Design and Development of IoT-Based Smart Maldive Fish Processing System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0751" y="1019175"/>
            <a:ext cx="534889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3399" b="1">
                <a:solidFill>
                  <a:srgbClr val="D40000"/>
                </a:solidFill>
                <a:latin typeface="Cambria Bold"/>
                <a:ea typeface="Cambria Bold"/>
                <a:cs typeface="Cambria Bold"/>
                <a:sym typeface="Cambria Bold"/>
              </a:rPr>
              <a:t>Problem &amp; Motivation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06911" y="1923042"/>
            <a:ext cx="9365041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endParaRPr dirty="0"/>
          </a:p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Maldive fish production involves several manual quality-checking and drying processes that can affect the final product quality.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343943" y="4288586"/>
            <a:ext cx="7577014" cy="131445"/>
            <a:chOff x="0" y="0"/>
            <a:chExt cx="1995592" cy="346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95592" cy="34619"/>
            </a:xfrm>
            <a:custGeom>
              <a:avLst/>
              <a:gdLst/>
              <a:ahLst/>
              <a:cxnLst/>
              <a:rect l="l" t="t" r="r" b="b"/>
              <a:pathLst>
                <a:path w="1995592" h="34619">
                  <a:moveTo>
                    <a:pt x="17310" y="0"/>
                  </a:moveTo>
                  <a:lnTo>
                    <a:pt x="1978283" y="0"/>
                  </a:lnTo>
                  <a:cubicBezTo>
                    <a:pt x="1982873" y="0"/>
                    <a:pt x="1987276" y="1824"/>
                    <a:pt x="1990522" y="5070"/>
                  </a:cubicBezTo>
                  <a:cubicBezTo>
                    <a:pt x="1993768" y="8316"/>
                    <a:pt x="1995592" y="12719"/>
                    <a:pt x="1995592" y="17310"/>
                  </a:cubicBezTo>
                  <a:lnTo>
                    <a:pt x="1995592" y="17310"/>
                  </a:lnTo>
                  <a:cubicBezTo>
                    <a:pt x="1995592" y="26870"/>
                    <a:pt x="1987842" y="34619"/>
                    <a:pt x="1978283" y="34619"/>
                  </a:cubicBezTo>
                  <a:lnTo>
                    <a:pt x="17310" y="34619"/>
                  </a:lnTo>
                  <a:cubicBezTo>
                    <a:pt x="7750" y="34619"/>
                    <a:pt x="0" y="26870"/>
                    <a:pt x="0" y="17310"/>
                  </a:cubicBezTo>
                  <a:lnTo>
                    <a:pt x="0" y="17310"/>
                  </a:lnTo>
                  <a:cubicBezTo>
                    <a:pt x="0" y="7750"/>
                    <a:pt x="7750" y="0"/>
                    <a:pt x="17310" y="0"/>
                  </a:cubicBezTo>
                  <a:close/>
                </a:path>
              </a:pathLst>
            </a:custGeom>
            <a:solidFill>
              <a:srgbClr val="007B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995592" cy="727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8203081" y="5143500"/>
            <a:ext cx="1025992" cy="1024160"/>
          </a:xfrm>
          <a:custGeom>
            <a:avLst/>
            <a:gdLst/>
            <a:ahLst/>
            <a:cxnLst/>
            <a:rect l="l" t="t" r="r" b="b"/>
            <a:pathLst>
              <a:path w="1025992" h="1024160">
                <a:moveTo>
                  <a:pt x="0" y="0"/>
                </a:moveTo>
                <a:lnTo>
                  <a:pt x="1025992" y="0"/>
                </a:lnTo>
                <a:lnTo>
                  <a:pt x="1025992" y="1024160"/>
                </a:lnTo>
                <a:lnTo>
                  <a:pt x="0" y="10241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8203081" y="1252538"/>
            <a:ext cx="1025992" cy="1024160"/>
          </a:xfrm>
          <a:custGeom>
            <a:avLst/>
            <a:gdLst/>
            <a:ahLst/>
            <a:cxnLst/>
            <a:rect l="l" t="t" r="r" b="b"/>
            <a:pathLst>
              <a:path w="1025992" h="1024160">
                <a:moveTo>
                  <a:pt x="0" y="0"/>
                </a:moveTo>
                <a:lnTo>
                  <a:pt x="1025992" y="0"/>
                </a:lnTo>
                <a:lnTo>
                  <a:pt x="1025992" y="1024159"/>
                </a:lnTo>
                <a:lnTo>
                  <a:pt x="0" y="10241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17755" y="452215"/>
            <a:ext cx="1025992" cy="1024160"/>
          </a:xfrm>
          <a:custGeom>
            <a:avLst/>
            <a:gdLst/>
            <a:ahLst/>
            <a:cxnLst/>
            <a:rect l="l" t="t" r="r" b="b"/>
            <a:pathLst>
              <a:path w="1025992" h="1024160">
                <a:moveTo>
                  <a:pt x="0" y="0"/>
                </a:moveTo>
                <a:lnTo>
                  <a:pt x="1025991" y="0"/>
                </a:lnTo>
                <a:lnTo>
                  <a:pt x="1025991" y="1024160"/>
                </a:lnTo>
                <a:lnTo>
                  <a:pt x="0" y="10241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7357" y="-400574"/>
            <a:ext cx="15236526" cy="3420581"/>
            <a:chOff x="0" y="0"/>
            <a:chExt cx="20600299" cy="46247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00299" cy="4624746"/>
            </a:xfrm>
            <a:custGeom>
              <a:avLst/>
              <a:gdLst/>
              <a:ahLst/>
              <a:cxnLst/>
              <a:rect l="l" t="t" r="r" b="b"/>
              <a:pathLst>
                <a:path w="20600299" h="4624746">
                  <a:moveTo>
                    <a:pt x="0" y="0"/>
                  </a:moveTo>
                  <a:lnTo>
                    <a:pt x="20600299" y="0"/>
                  </a:lnTo>
                  <a:lnTo>
                    <a:pt x="20600299" y="4624746"/>
                  </a:lnTo>
                  <a:lnTo>
                    <a:pt x="0" y="46247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50" r="-2362" b="-8072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0600299" cy="463426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599"/>
                </a:lnSpc>
              </a:pPr>
              <a:endParaRPr/>
            </a:p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    </a:t>
              </a:r>
            </a:p>
            <a:p>
              <a:pPr algn="l">
                <a:lnSpc>
                  <a:spcPts val="3360"/>
                </a:lnSpc>
              </a:pPr>
              <a:r>
                <a:rPr lang="en-US" sz="28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An IoT and AI-based smart system that automates fish quality assessment, boiling optimization, drying monitoring, and final dried-fish quality checking.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72757" y="1256502"/>
            <a:ext cx="15244993" cy="8418781"/>
            <a:chOff x="-11448" y="-1259490"/>
            <a:chExt cx="20611747" cy="11382478"/>
          </a:xfrm>
        </p:grpSpPr>
        <p:sp>
          <p:nvSpPr>
            <p:cNvPr id="6" name="Freeform 6"/>
            <p:cNvSpPr/>
            <p:nvPr/>
          </p:nvSpPr>
          <p:spPr>
            <a:xfrm>
              <a:off x="-11448" y="-1259490"/>
              <a:ext cx="20600299" cy="10122992"/>
            </a:xfrm>
            <a:custGeom>
              <a:avLst/>
              <a:gdLst/>
              <a:ahLst/>
              <a:cxnLst/>
              <a:rect l="l" t="t" r="r" b="b"/>
              <a:pathLst>
                <a:path w="20600299" h="10122992">
                  <a:moveTo>
                    <a:pt x="0" y="0"/>
                  </a:moveTo>
                  <a:lnTo>
                    <a:pt x="20600299" y="0"/>
                  </a:lnTo>
                  <a:lnTo>
                    <a:pt x="20600299" y="10122992"/>
                  </a:lnTo>
                  <a:lnTo>
                    <a:pt x="0" y="10122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918" b="-17663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0600299" cy="1013251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599"/>
                </a:lnSpc>
              </a:pPr>
              <a:r>
                <a:rPr lang="en-US" sz="2999" b="1" dirty="0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Features of the Overall System</a:t>
              </a:r>
            </a:p>
            <a:p>
              <a:pPr algn="l">
                <a:lnSpc>
                  <a:spcPts val="3239"/>
                </a:lnSpc>
              </a:pPr>
              <a:r>
                <a:rPr lang="en-US" sz="2699" b="1" dirty="0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</a:t>
              </a:r>
              <a:r>
                <a:rPr lang="en-US" sz="2699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• Automated fish quality inspection</a:t>
              </a:r>
            </a:p>
            <a:p>
              <a:pPr algn="l">
                <a:lnSpc>
                  <a:spcPts val="3239"/>
                </a:lnSpc>
              </a:pPr>
              <a:r>
                <a:rPr lang="en-US" sz="2699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• Real-time environmental monitoring during drying</a:t>
              </a:r>
            </a:p>
            <a:p>
              <a:pPr algn="l">
                <a:lnSpc>
                  <a:spcPts val="3239"/>
                </a:lnSpc>
              </a:pPr>
              <a:r>
                <a:rPr lang="en-US" sz="2699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• AI-based grading and quality classification</a:t>
              </a:r>
            </a:p>
            <a:p>
              <a:pPr algn="l">
                <a:lnSpc>
                  <a:spcPts val="3239"/>
                </a:lnSpc>
              </a:pPr>
              <a:r>
                <a:rPr lang="en-US" sz="2699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• Centralized monitoring dashboard</a:t>
              </a:r>
            </a:p>
            <a:p>
              <a:pPr algn="l">
                <a:lnSpc>
                  <a:spcPts val="3239"/>
                </a:lnSpc>
              </a:pPr>
              <a:r>
                <a:rPr lang="en-US" sz="2699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</a:t>
              </a:r>
            </a:p>
            <a:p>
              <a:pPr algn="l">
                <a:lnSpc>
                  <a:spcPts val="3719"/>
                </a:lnSpc>
              </a:pPr>
              <a:r>
                <a:rPr lang="en-US" sz="3099" b="1" dirty="0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Non-Functional Goals</a:t>
              </a:r>
            </a:p>
            <a:p>
              <a:pPr marL="582928" lvl="1" indent="-291464" algn="l">
                <a:lnSpc>
                  <a:spcPts val="3239"/>
                </a:lnSpc>
                <a:buFont typeface="Arial"/>
                <a:buChar char="•"/>
              </a:pPr>
              <a:r>
                <a:rPr lang="en-US" sz="2699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Easy-to-use interface</a:t>
              </a:r>
            </a:p>
            <a:p>
              <a:pPr marL="582928" lvl="1" indent="-291464" algn="l">
                <a:lnSpc>
                  <a:spcPts val="3239"/>
                </a:lnSpc>
                <a:buFont typeface="Arial"/>
                <a:buChar char="•"/>
              </a:pPr>
              <a:r>
                <a:rPr lang="en-US" sz="2699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Real-time sensor monitoring</a:t>
              </a:r>
            </a:p>
            <a:p>
              <a:pPr marL="582928" lvl="1" indent="-291464" algn="l">
                <a:lnSpc>
                  <a:spcPts val="3239"/>
                </a:lnSpc>
                <a:buFont typeface="Arial"/>
                <a:buChar char="•"/>
              </a:pPr>
              <a:r>
                <a:rPr lang="en-US" sz="2699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Accurate quality predictions</a:t>
              </a:r>
            </a:p>
            <a:p>
              <a:pPr marL="582928" lvl="1" indent="-291464" algn="l">
                <a:lnSpc>
                  <a:spcPts val="3239"/>
                </a:lnSpc>
                <a:buFont typeface="Arial"/>
                <a:buChar char="•"/>
              </a:pPr>
              <a:r>
                <a:rPr lang="en-US" sz="2699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Fast system response</a:t>
              </a:r>
            </a:p>
            <a:p>
              <a:pPr algn="l">
                <a:lnSpc>
                  <a:spcPts val="3239"/>
                </a:lnSpc>
              </a:pPr>
              <a:endParaRPr lang="en-US" sz="2699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algn="l">
                <a:lnSpc>
                  <a:spcPts val="3239"/>
                </a:lnSpc>
              </a:pPr>
              <a:endParaRPr lang="en-US" sz="2699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algn="l">
                <a:lnSpc>
                  <a:spcPts val="3239"/>
                </a:lnSpc>
              </a:pPr>
              <a:endParaRPr lang="en-US" sz="2699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727614" y="8937563"/>
            <a:ext cx="10224545" cy="1980251"/>
            <a:chOff x="0" y="0"/>
            <a:chExt cx="13632726" cy="26403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632731" cy="2640335"/>
            </a:xfrm>
            <a:custGeom>
              <a:avLst/>
              <a:gdLst/>
              <a:ahLst/>
              <a:cxnLst/>
              <a:rect l="l" t="t" r="r" b="b"/>
              <a:pathLst>
                <a:path w="13632731" h="2640335">
                  <a:moveTo>
                    <a:pt x="0" y="0"/>
                  </a:moveTo>
                  <a:lnTo>
                    <a:pt x="13632731" y="0"/>
                  </a:lnTo>
                  <a:lnTo>
                    <a:pt x="13632731" y="2640335"/>
                  </a:lnTo>
                  <a:lnTo>
                    <a:pt x="0" y="264033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6777" b="-14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3632726" cy="2659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RP-26-IT-028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250432"/>
            <a:ext cx="16928331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 b="1" i="1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 Design and Development of IoT-Based Smart Maldive Fish Processing System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0424" y="1357535"/>
            <a:ext cx="3541352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sz="3299" b="1">
                <a:solidFill>
                  <a:srgbClr val="D40000"/>
                </a:solidFill>
                <a:latin typeface="Cambria Bold"/>
                <a:ea typeface="Cambria Bold"/>
                <a:cs typeface="Cambria Bold"/>
                <a:sym typeface="Cambria Bold"/>
              </a:rPr>
              <a:t>Proposed Solution</a:t>
            </a:r>
          </a:p>
        </p:txBody>
      </p:sp>
      <p:sp>
        <p:nvSpPr>
          <p:cNvPr id="13" name="Freeform 13"/>
          <p:cNvSpPr/>
          <p:nvPr/>
        </p:nvSpPr>
        <p:spPr>
          <a:xfrm>
            <a:off x="217429" y="590550"/>
            <a:ext cx="1025992" cy="1024160"/>
          </a:xfrm>
          <a:custGeom>
            <a:avLst/>
            <a:gdLst/>
            <a:ahLst/>
            <a:cxnLst/>
            <a:rect l="l" t="t" r="r" b="b"/>
            <a:pathLst>
              <a:path w="1025992" h="1024160">
                <a:moveTo>
                  <a:pt x="0" y="0"/>
                </a:moveTo>
                <a:lnTo>
                  <a:pt x="1025991" y="0"/>
                </a:lnTo>
                <a:lnTo>
                  <a:pt x="1025991" y="1024160"/>
                </a:lnTo>
                <a:lnTo>
                  <a:pt x="0" y="10241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59957"/>
            <a:ext cx="3771900" cy="735463"/>
            <a:chOff x="0" y="0"/>
            <a:chExt cx="5029200" cy="980618"/>
          </a:xfrm>
        </p:grpSpPr>
        <p:sp>
          <p:nvSpPr>
            <p:cNvPr id="3" name="Freeform 3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10015357"/>
            <a:ext cx="18288000" cy="271643"/>
            <a:chOff x="0" y="0"/>
            <a:chExt cx="24384000" cy="3621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362204"/>
            </a:xfrm>
            <a:custGeom>
              <a:avLst/>
              <a:gdLst/>
              <a:ahLst/>
              <a:cxnLst/>
              <a:rect l="l" t="t" r="r" b="b"/>
              <a:pathLst>
                <a:path w="24384000" h="362204">
                  <a:moveTo>
                    <a:pt x="0" y="362204"/>
                  </a:moveTo>
                  <a:lnTo>
                    <a:pt x="9606534" y="0"/>
                  </a:lnTo>
                  <a:lnTo>
                    <a:pt x="24384000" y="362204"/>
                  </a:ln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907905" y="8937563"/>
            <a:ext cx="10224545" cy="1980251"/>
            <a:chOff x="0" y="0"/>
            <a:chExt cx="13632726" cy="26403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32731" cy="2640335"/>
            </a:xfrm>
            <a:custGeom>
              <a:avLst/>
              <a:gdLst/>
              <a:ahLst/>
              <a:cxnLst/>
              <a:rect l="l" t="t" r="r" b="b"/>
              <a:pathLst>
                <a:path w="13632731" h="2640335">
                  <a:moveTo>
                    <a:pt x="0" y="0"/>
                  </a:moveTo>
                  <a:lnTo>
                    <a:pt x="13632731" y="0"/>
                  </a:lnTo>
                  <a:lnTo>
                    <a:pt x="13632731" y="2640335"/>
                  </a:lnTo>
                  <a:lnTo>
                    <a:pt x="0" y="2640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777" b="-14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3632726" cy="2659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RP-26-IT-028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938080" y="352425"/>
            <a:ext cx="5450800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r>
              <a:rPr lang="en-US" sz="43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Overall Research Gap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C5DDEC-4D69-2B41-A8A7-E79832435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950" y="1006585"/>
            <a:ext cx="14898222" cy="87810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15489" y="359646"/>
            <a:ext cx="6518252" cy="9780485"/>
          </a:xfrm>
          <a:custGeom>
            <a:avLst/>
            <a:gdLst/>
            <a:ahLst/>
            <a:cxnLst/>
            <a:rect l="l" t="t" r="r" b="b"/>
            <a:pathLst>
              <a:path w="6518252" h="9780485">
                <a:moveTo>
                  <a:pt x="0" y="0"/>
                </a:moveTo>
                <a:lnTo>
                  <a:pt x="6518252" y="0"/>
                </a:lnTo>
                <a:lnTo>
                  <a:pt x="6518252" y="9780485"/>
                </a:lnTo>
                <a:lnTo>
                  <a:pt x="0" y="97804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152870" y="359646"/>
            <a:ext cx="7833479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679"/>
              </a:lnSpc>
              <a:spcBef>
                <a:spcPct val="0"/>
              </a:spcBef>
            </a:pPr>
            <a:r>
              <a:rPr lang="en-US" sz="3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System Architecture &amp; Integration </a:t>
            </a:r>
          </a:p>
          <a:p>
            <a:pPr algn="r">
              <a:lnSpc>
                <a:spcPts val="4679"/>
              </a:lnSpc>
              <a:spcBef>
                <a:spcPct val="0"/>
              </a:spcBef>
            </a:pPr>
            <a:r>
              <a:rPr lang="en-US" sz="3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System Architecture Diagram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59957"/>
            <a:ext cx="3771900" cy="735463"/>
            <a:chOff x="0" y="0"/>
            <a:chExt cx="5029200" cy="980618"/>
          </a:xfrm>
        </p:grpSpPr>
        <p:sp>
          <p:nvSpPr>
            <p:cNvPr id="3" name="Freeform 3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687592" y="632779"/>
            <a:ext cx="8121372" cy="220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sz="40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System Architecture &amp; Integration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endParaRPr lang="en-US" sz="4099" b="1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  <a:p>
            <a:pPr algn="ctr">
              <a:lnSpc>
                <a:spcPts val="4199"/>
              </a:lnSpc>
              <a:spcBef>
                <a:spcPct val="0"/>
              </a:spcBef>
            </a:pPr>
            <a:endParaRPr lang="en-US" sz="4099" b="1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23516" y="1694345"/>
            <a:ext cx="17764484" cy="778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8"/>
              </a:lnSpc>
            </a:pPr>
            <a:r>
              <a:rPr lang="en-US" sz="3182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  Components</a:t>
            </a:r>
          </a:p>
          <a:p>
            <a:pPr algn="l">
              <a:lnSpc>
                <a:spcPts val="3698"/>
              </a:lnSpc>
            </a:pPr>
            <a:endParaRPr lang="en-US" sz="3182" b="1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AI-Driven Raw Fish Quality Assessment &amp; Standardization - IT22300096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Smart Optimization of Boiling and Salt Distribution using IOT AI - IT22341686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Intelligent IoT-Based Multi-Parameter Environmental Monitoring for Fish Processing Optimization - IT22340214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AI-Based Multi-Sensor Quality Evaluation System for Dried Maldive Fish - IT22224934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  Integration points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endParaRPr lang="en-US" sz="3200" b="1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  <a:p>
            <a:pPr marL="582930" lvl="1" indent="-291465" algn="l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ESP32 sensor communication</a:t>
            </a:r>
          </a:p>
          <a:p>
            <a:pPr marL="582930" lvl="1" indent="-291465" algn="l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Image uploads and live caption through camera</a:t>
            </a:r>
          </a:p>
          <a:p>
            <a:pPr marL="582930" lvl="1" indent="-291465" algn="l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Sensor data transmission</a:t>
            </a:r>
          </a:p>
          <a:p>
            <a:pPr marL="582930" lvl="1" indent="-291465" algn="l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AI model predictions</a:t>
            </a:r>
          </a:p>
          <a:p>
            <a:pPr marL="582930" lvl="1" indent="-291465" algn="l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Central dashboard</a:t>
            </a:r>
          </a:p>
          <a:p>
            <a:pPr algn="ctr">
              <a:lnSpc>
                <a:spcPts val="10658"/>
              </a:lnSpc>
              <a:spcBef>
                <a:spcPct val="0"/>
              </a:spcBef>
            </a:pPr>
            <a:r>
              <a:rPr lang="en-US" sz="8881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907905" y="8937563"/>
            <a:ext cx="10224545" cy="1980251"/>
            <a:chOff x="0" y="0"/>
            <a:chExt cx="13632726" cy="26403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32731" cy="2640335"/>
            </a:xfrm>
            <a:custGeom>
              <a:avLst/>
              <a:gdLst/>
              <a:ahLst/>
              <a:cxnLst/>
              <a:rect l="l" t="t" r="r" b="b"/>
              <a:pathLst>
                <a:path w="13632731" h="2640335">
                  <a:moveTo>
                    <a:pt x="0" y="0"/>
                  </a:moveTo>
                  <a:lnTo>
                    <a:pt x="13632731" y="0"/>
                  </a:lnTo>
                  <a:lnTo>
                    <a:pt x="13632731" y="2640335"/>
                  </a:lnTo>
                  <a:lnTo>
                    <a:pt x="0" y="2640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777" b="-14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3632726" cy="2659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RP-26-IT-028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45096" y="632779"/>
            <a:ext cx="5206365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9"/>
              </a:lnSpc>
              <a:spcBef>
                <a:spcPct val="0"/>
              </a:spcBef>
            </a:pPr>
            <a:r>
              <a:rPr lang="en-US" sz="46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Commercialization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02677" y="1952024"/>
            <a:ext cx="7102424" cy="593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 Users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Maldive fish producers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Fish processing factories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Fish quality inspectors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Small and medium-scale fish businesses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Exporters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Value Proposition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Reduces manual quality inspection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Improves consistency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Supports data-driven processing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Monitors drying conditions in real time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Detects poor-quality dried fish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Reduces human error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0" y="3343275"/>
            <a:ext cx="7102424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Estimated Coast</a:t>
            </a:r>
          </a:p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    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Total Budget - LKR 75,000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19268" y="3615829"/>
            <a:ext cx="8399461" cy="3055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38"/>
              </a:lnSpc>
              <a:spcBef>
                <a:spcPct val="0"/>
              </a:spcBef>
            </a:pPr>
            <a:r>
              <a:rPr lang="en-US" sz="10782">
                <a:solidFill>
                  <a:srgbClr val="000000"/>
                </a:solidFill>
                <a:latin typeface="Magnolia Script"/>
                <a:ea typeface="Magnolia Script"/>
                <a:cs typeface="Magnolia Script"/>
                <a:sym typeface="Magnolia Script"/>
              </a:rPr>
              <a:t>THANK YOU</a:t>
            </a:r>
          </a:p>
          <a:p>
            <a:pPr algn="ctr">
              <a:lnSpc>
                <a:spcPts val="5660"/>
              </a:lnSpc>
              <a:spcBef>
                <a:spcPct val="0"/>
              </a:spcBef>
            </a:pPr>
            <a:endParaRPr lang="en-US" sz="10782">
              <a:solidFill>
                <a:srgbClr val="000000"/>
              </a:solidFill>
              <a:latin typeface="Magnolia Script"/>
              <a:ea typeface="Magnolia Script"/>
              <a:cs typeface="Magnolia Script"/>
              <a:sym typeface="Magnolia Script"/>
            </a:endParaRPr>
          </a:p>
          <a:p>
            <a:pPr algn="ctr">
              <a:lnSpc>
                <a:spcPts val="5660"/>
              </a:lnSpc>
              <a:spcBef>
                <a:spcPct val="0"/>
              </a:spcBef>
            </a:pPr>
            <a:r>
              <a:rPr lang="en-US" sz="4717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332</Words>
  <Application>Microsoft Office PowerPoint</Application>
  <PresentationFormat>Custom</PresentationFormat>
  <Paragraphs>89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Calibri</vt:lpstr>
      <vt:lpstr>Montserrat Ultra-Bold</vt:lpstr>
      <vt:lpstr>Arimo Bold Italics</vt:lpstr>
      <vt:lpstr>Cambria</vt:lpstr>
      <vt:lpstr>Magnolia Script</vt:lpstr>
      <vt:lpstr>Cambria Bold</vt:lpstr>
      <vt:lpstr>Arial</vt:lpstr>
      <vt:lpstr>Childling</vt:lpstr>
      <vt:lpstr>Cambria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Template (1).pptx</dc:title>
  <dc:creator>LENOVO</dc:creator>
  <cp:lastModifiedBy>SANCHALA W K S it22224934</cp:lastModifiedBy>
  <cp:revision>2</cp:revision>
  <dcterms:created xsi:type="dcterms:W3CDTF">2006-08-16T00:00:00Z</dcterms:created>
  <dcterms:modified xsi:type="dcterms:W3CDTF">2026-09-03T03:23:31Z</dcterms:modified>
  <dc:identifier>DAHDneQyZPI</dc:identifier>
</cp:coreProperties>
</file>