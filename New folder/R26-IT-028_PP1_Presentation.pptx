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88" r:id="rId5"/>
    <p:sldId id="290" r:id="rId6"/>
    <p:sldId id="260" r:id="rId7"/>
    <p:sldId id="261" r:id="rId8"/>
    <p:sldId id="291" r:id="rId9"/>
    <p:sldId id="265" r:id="rId10"/>
    <p:sldId id="266" r:id="rId11"/>
    <p:sldId id="286" r:id="rId12"/>
    <p:sldId id="271" r:id="rId13"/>
    <p:sldId id="272" r:id="rId14"/>
    <p:sldId id="292" r:id="rId15"/>
    <p:sldId id="276" r:id="rId16"/>
    <p:sldId id="277" r:id="rId17"/>
    <p:sldId id="278" r:id="rId18"/>
    <p:sldId id="287" r:id="rId19"/>
  </p:sldIdLst>
  <p:sldSz cx="18288000" cy="10287000"/>
  <p:notesSz cx="6858000" cy="9144000"/>
  <p:embeddedFontLst>
    <p:embeddedFont>
      <p:font typeface="Arimo Bold" panose="020B0604020202020204" charset="0"/>
      <p:regular r:id="rId20"/>
    </p:embeddedFont>
    <p:embeddedFont>
      <p:font typeface="Arimo Bold Italics" panose="020B0604020202020204" charset="0"/>
      <p:regular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Cambria Bold" panose="02040803050406030204" pitchFamily="18" charset="0"/>
      <p:regular r:id="rId26"/>
      <p:bold r:id="rId27"/>
    </p:embeddedFont>
    <p:embeddedFont>
      <p:font typeface="Cambria Bold Italics" panose="020B0604020202020204" charset="0"/>
      <p:regular r:id="rId28"/>
    </p:embeddedFont>
    <p:embeddedFont>
      <p:font typeface="Childling" panose="020B0604020202020204" charset="0"/>
      <p:regular r:id="rId29"/>
    </p:embeddedFont>
    <p:embeddedFont>
      <p:font typeface="Montserrat Ultra-Bold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-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3" name="Freeform 3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5" name="Freeform 5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771900" y="8918513"/>
            <a:ext cx="10224545" cy="1980251"/>
            <a:chOff x="0" y="0"/>
            <a:chExt cx="13632726" cy="26403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32731" cy="2640335"/>
            </a:xfrm>
            <a:custGeom>
              <a:avLst/>
              <a:gdLst/>
              <a:ahLst/>
              <a:cxnLst/>
              <a:rect l="l" t="t" r="r" b="b"/>
              <a:pathLst>
                <a:path w="13632731" h="2640335">
                  <a:moveTo>
                    <a:pt x="0" y="0"/>
                  </a:moveTo>
                  <a:lnTo>
                    <a:pt x="13632731" y="0"/>
                  </a:lnTo>
                  <a:lnTo>
                    <a:pt x="13632731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777" b="-14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3632726" cy="265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RP-26-IT-028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391900" y="280803"/>
            <a:ext cx="5981700" cy="897988"/>
            <a:chOff x="0" y="0"/>
            <a:chExt cx="1472748" cy="2040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72748" cy="204055"/>
            </a:xfrm>
            <a:custGeom>
              <a:avLst/>
              <a:gdLst/>
              <a:ahLst/>
              <a:cxnLst/>
              <a:rect l="l" t="t" r="r" b="b"/>
              <a:pathLst>
                <a:path w="1472748" h="204055">
                  <a:moveTo>
                    <a:pt x="53996" y="0"/>
                  </a:moveTo>
                  <a:lnTo>
                    <a:pt x="1418752" y="0"/>
                  </a:lnTo>
                  <a:cubicBezTo>
                    <a:pt x="1433073" y="0"/>
                    <a:pt x="1446807" y="5689"/>
                    <a:pt x="1456933" y="15815"/>
                  </a:cubicBezTo>
                  <a:cubicBezTo>
                    <a:pt x="1467059" y="25941"/>
                    <a:pt x="1472748" y="39675"/>
                    <a:pt x="1472748" y="53996"/>
                  </a:cubicBezTo>
                  <a:lnTo>
                    <a:pt x="1472748" y="150060"/>
                  </a:lnTo>
                  <a:cubicBezTo>
                    <a:pt x="1472748" y="164380"/>
                    <a:pt x="1467059" y="178114"/>
                    <a:pt x="1456933" y="188240"/>
                  </a:cubicBezTo>
                  <a:cubicBezTo>
                    <a:pt x="1446807" y="198367"/>
                    <a:pt x="1433073" y="204055"/>
                    <a:pt x="1418752" y="204055"/>
                  </a:cubicBezTo>
                  <a:lnTo>
                    <a:pt x="53996" y="204055"/>
                  </a:lnTo>
                  <a:cubicBezTo>
                    <a:pt x="39675" y="204055"/>
                    <a:pt x="25941" y="198367"/>
                    <a:pt x="15815" y="188240"/>
                  </a:cubicBezTo>
                  <a:cubicBezTo>
                    <a:pt x="5689" y="178114"/>
                    <a:pt x="0" y="164380"/>
                    <a:pt x="0" y="150060"/>
                  </a:cubicBezTo>
                  <a:lnTo>
                    <a:pt x="0" y="53996"/>
                  </a:lnTo>
                  <a:cubicBezTo>
                    <a:pt x="0" y="39675"/>
                    <a:pt x="5689" y="25941"/>
                    <a:pt x="15815" y="15815"/>
                  </a:cubicBezTo>
                  <a:cubicBezTo>
                    <a:pt x="25941" y="5689"/>
                    <a:pt x="39675" y="0"/>
                    <a:pt x="5399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72748" cy="2421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2400" y="2545148"/>
            <a:ext cx="14839376" cy="6776187"/>
          </a:xfrm>
          <a:custGeom>
            <a:avLst/>
            <a:gdLst/>
            <a:ahLst/>
            <a:cxnLst/>
            <a:rect l="l" t="t" r="r" b="b"/>
            <a:pathLst>
              <a:path w="14839376" h="6776187">
                <a:moveTo>
                  <a:pt x="0" y="0"/>
                </a:moveTo>
                <a:lnTo>
                  <a:pt x="14839376" y="0"/>
                </a:lnTo>
                <a:lnTo>
                  <a:pt x="14839376" y="6776187"/>
                </a:lnTo>
                <a:lnTo>
                  <a:pt x="0" y="6776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4487" b="-114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723900" y="280803"/>
            <a:ext cx="16840200" cy="1590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205"/>
              </a:lnSpc>
              <a:spcBef>
                <a:spcPct val="0"/>
              </a:spcBef>
            </a:pPr>
            <a:r>
              <a:rPr lang="en-US" sz="5214" u="none" strike="noStrike" dirty="0">
                <a:solidFill>
                  <a:srgbClr val="3B3A3A"/>
                </a:solidFill>
                <a:latin typeface="Childling"/>
                <a:ea typeface="Childling"/>
                <a:cs typeface="Childling"/>
                <a:sym typeface="Childling"/>
              </a:rPr>
              <a:t> Design and Development of </a:t>
            </a:r>
            <a:r>
              <a:rPr lang="en-US" sz="5214" u="none" strike="noStrike" dirty="0">
                <a:solidFill>
                  <a:srgbClr val="D40000"/>
                </a:solidFill>
                <a:latin typeface="Childling"/>
                <a:ea typeface="Childling"/>
                <a:cs typeface="Childling"/>
                <a:sym typeface="Childling"/>
              </a:rPr>
              <a:t>IoT-Based</a:t>
            </a:r>
            <a:r>
              <a:rPr lang="en-US" sz="5214" u="none" strike="noStrike" dirty="0">
                <a:solidFill>
                  <a:srgbClr val="3B3A3A"/>
                </a:solidFill>
                <a:latin typeface="Childling"/>
                <a:ea typeface="Childling"/>
                <a:cs typeface="Childling"/>
                <a:sym typeface="Childling"/>
              </a:rPr>
              <a:t> Smart</a:t>
            </a:r>
            <a:r>
              <a:rPr lang="en-US" sz="5214" u="none" strike="noStrike" dirty="0">
                <a:solidFill>
                  <a:srgbClr val="DDA707"/>
                </a:solidFill>
                <a:latin typeface="Childling"/>
                <a:ea typeface="Childling"/>
                <a:cs typeface="Childling"/>
                <a:sym typeface="Childling"/>
              </a:rPr>
              <a:t>  </a:t>
            </a:r>
            <a:r>
              <a:rPr lang="en-US" sz="5214" u="none" strike="noStrike" dirty="0">
                <a:solidFill>
                  <a:srgbClr val="FFFFFF"/>
                </a:solidFill>
                <a:latin typeface="Childling"/>
                <a:ea typeface="Childling"/>
                <a:cs typeface="Childling"/>
                <a:sym typeface="Childling"/>
              </a:rPr>
              <a:t>Maldive Fish Processing</a:t>
            </a:r>
            <a:r>
              <a:rPr lang="en-US" sz="5214" u="none" strike="noStrike" dirty="0">
                <a:solidFill>
                  <a:srgbClr val="3B3A3A"/>
                </a:solidFill>
                <a:latin typeface="Childling"/>
                <a:ea typeface="Childling"/>
                <a:cs typeface="Childling"/>
                <a:sym typeface="Childling"/>
              </a:rPr>
              <a:t>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28328" y="1459864"/>
            <a:ext cx="3285879" cy="328587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35612" y="0"/>
                  </a:moveTo>
                  <a:lnTo>
                    <a:pt x="577188" y="0"/>
                  </a:lnTo>
                  <a:cubicBezTo>
                    <a:pt x="639676" y="0"/>
                    <a:pt x="699605" y="24823"/>
                    <a:pt x="743791" y="69009"/>
                  </a:cubicBezTo>
                  <a:cubicBezTo>
                    <a:pt x="787977" y="113195"/>
                    <a:pt x="812800" y="173124"/>
                    <a:pt x="812800" y="235612"/>
                  </a:cubicBezTo>
                  <a:lnTo>
                    <a:pt x="812800" y="577188"/>
                  </a:lnTo>
                  <a:cubicBezTo>
                    <a:pt x="812800" y="639676"/>
                    <a:pt x="787977" y="699605"/>
                    <a:pt x="743791" y="743791"/>
                  </a:cubicBezTo>
                  <a:cubicBezTo>
                    <a:pt x="699605" y="787977"/>
                    <a:pt x="639676" y="812800"/>
                    <a:pt x="577188" y="812800"/>
                  </a:cubicBezTo>
                  <a:lnTo>
                    <a:pt x="235612" y="812800"/>
                  </a:lnTo>
                  <a:cubicBezTo>
                    <a:pt x="173124" y="812800"/>
                    <a:pt x="113195" y="787977"/>
                    <a:pt x="69009" y="743791"/>
                  </a:cubicBezTo>
                  <a:cubicBezTo>
                    <a:pt x="24823" y="699605"/>
                    <a:pt x="0" y="639676"/>
                    <a:pt x="0" y="577188"/>
                  </a:cubicBezTo>
                  <a:lnTo>
                    <a:pt x="0" y="235612"/>
                  </a:lnTo>
                  <a:cubicBezTo>
                    <a:pt x="0" y="173124"/>
                    <a:pt x="24823" y="113195"/>
                    <a:pt x="69009" y="69009"/>
                  </a:cubicBezTo>
                  <a:cubicBezTo>
                    <a:pt x="113195" y="24823"/>
                    <a:pt x="173124" y="0"/>
                    <a:pt x="235612" y="0"/>
                  </a:cubicBezTo>
                  <a:close/>
                </a:path>
              </a:pathLst>
            </a:custGeom>
            <a:blipFill>
              <a:blip r:embed="rId2"/>
              <a:stretch>
                <a:fillRect t="-8910" b="-89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05907" y="1459864"/>
            <a:ext cx="3285879" cy="328587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35612" y="0"/>
                  </a:moveTo>
                  <a:lnTo>
                    <a:pt x="577188" y="0"/>
                  </a:lnTo>
                  <a:cubicBezTo>
                    <a:pt x="639676" y="0"/>
                    <a:pt x="699605" y="24823"/>
                    <a:pt x="743791" y="69009"/>
                  </a:cubicBezTo>
                  <a:cubicBezTo>
                    <a:pt x="787977" y="113195"/>
                    <a:pt x="812800" y="173124"/>
                    <a:pt x="812800" y="235612"/>
                  </a:cubicBezTo>
                  <a:lnTo>
                    <a:pt x="812800" y="577188"/>
                  </a:lnTo>
                  <a:cubicBezTo>
                    <a:pt x="812800" y="639676"/>
                    <a:pt x="787977" y="699605"/>
                    <a:pt x="743791" y="743791"/>
                  </a:cubicBezTo>
                  <a:cubicBezTo>
                    <a:pt x="699605" y="787977"/>
                    <a:pt x="639676" y="812800"/>
                    <a:pt x="577188" y="812800"/>
                  </a:cubicBezTo>
                  <a:lnTo>
                    <a:pt x="235612" y="812800"/>
                  </a:lnTo>
                  <a:cubicBezTo>
                    <a:pt x="173124" y="812800"/>
                    <a:pt x="113195" y="787977"/>
                    <a:pt x="69009" y="743791"/>
                  </a:cubicBezTo>
                  <a:cubicBezTo>
                    <a:pt x="24823" y="699605"/>
                    <a:pt x="0" y="639676"/>
                    <a:pt x="0" y="577188"/>
                  </a:cubicBezTo>
                  <a:lnTo>
                    <a:pt x="0" y="235612"/>
                  </a:lnTo>
                  <a:cubicBezTo>
                    <a:pt x="0" y="173124"/>
                    <a:pt x="24823" y="113195"/>
                    <a:pt x="69009" y="69009"/>
                  </a:cubicBezTo>
                  <a:cubicBezTo>
                    <a:pt x="113195" y="24823"/>
                    <a:pt x="173124" y="0"/>
                    <a:pt x="235612" y="0"/>
                  </a:cubicBezTo>
                  <a:close/>
                </a:path>
              </a:pathLst>
            </a:custGeom>
            <a:blipFill>
              <a:blip r:embed="rId3"/>
              <a:stretch>
                <a:fillRect t="-4644" b="-46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912952" y="3645023"/>
            <a:ext cx="5389733" cy="538973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ln w="57150" cap="rnd">
              <a:solidFill>
                <a:srgbClr val="8D9193"/>
              </a:solidFill>
              <a:prstDash val="sysDot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340517" y="3351904"/>
            <a:ext cx="534603" cy="53460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66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340517" y="8723697"/>
            <a:ext cx="534603" cy="53460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A70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41887" y="7326355"/>
            <a:ext cx="534603" cy="53460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AE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665462" y="7326355"/>
            <a:ext cx="534603" cy="534603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667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912952" y="4976796"/>
            <a:ext cx="534603" cy="534603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667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665462" y="4901431"/>
            <a:ext cx="534603" cy="534603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AE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645651" y="5966300"/>
            <a:ext cx="534603" cy="534603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66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592248" y="6872378"/>
            <a:ext cx="2488671" cy="2488671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11087" y="0"/>
                  </a:moveTo>
                  <a:lnTo>
                    <a:pt x="501713" y="0"/>
                  </a:lnTo>
                  <a:cubicBezTo>
                    <a:pt x="673522" y="0"/>
                    <a:pt x="812800" y="139278"/>
                    <a:pt x="812800" y="311087"/>
                  </a:cubicBezTo>
                  <a:lnTo>
                    <a:pt x="812800" y="501713"/>
                  </a:lnTo>
                  <a:cubicBezTo>
                    <a:pt x="812800" y="673522"/>
                    <a:pt x="673522" y="812800"/>
                    <a:pt x="501713" y="812800"/>
                  </a:cubicBezTo>
                  <a:lnTo>
                    <a:pt x="311087" y="812800"/>
                  </a:lnTo>
                  <a:cubicBezTo>
                    <a:pt x="139278" y="812800"/>
                    <a:pt x="0" y="673522"/>
                    <a:pt x="0" y="501713"/>
                  </a:cubicBezTo>
                  <a:lnTo>
                    <a:pt x="0" y="311087"/>
                  </a:lnTo>
                  <a:cubicBezTo>
                    <a:pt x="0" y="139278"/>
                    <a:pt x="139278" y="0"/>
                    <a:pt x="311087" y="0"/>
                  </a:cubicBezTo>
                  <a:close/>
                </a:path>
              </a:pathLst>
            </a:custGeom>
            <a:blipFill>
              <a:blip r:embed="rId4"/>
              <a:stretch>
                <a:fillRect t="-4607" b="-2396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046177" y="6769629"/>
            <a:ext cx="2488671" cy="2488671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11087" y="0"/>
                  </a:moveTo>
                  <a:lnTo>
                    <a:pt x="501713" y="0"/>
                  </a:lnTo>
                  <a:cubicBezTo>
                    <a:pt x="673522" y="0"/>
                    <a:pt x="812800" y="139278"/>
                    <a:pt x="812800" y="311087"/>
                  </a:cubicBezTo>
                  <a:lnTo>
                    <a:pt x="812800" y="501713"/>
                  </a:lnTo>
                  <a:cubicBezTo>
                    <a:pt x="812800" y="673522"/>
                    <a:pt x="673522" y="812800"/>
                    <a:pt x="501713" y="812800"/>
                  </a:cubicBezTo>
                  <a:lnTo>
                    <a:pt x="311087" y="812800"/>
                  </a:lnTo>
                  <a:cubicBezTo>
                    <a:pt x="139278" y="812800"/>
                    <a:pt x="0" y="673522"/>
                    <a:pt x="0" y="501713"/>
                  </a:cubicBezTo>
                  <a:lnTo>
                    <a:pt x="0" y="311087"/>
                  </a:lnTo>
                  <a:cubicBezTo>
                    <a:pt x="0" y="139278"/>
                    <a:pt x="139278" y="0"/>
                    <a:pt x="311087" y="0"/>
                  </a:cubicBezTo>
                  <a:close/>
                </a:path>
              </a:pathLst>
            </a:custGeom>
            <a:blipFill>
              <a:blip r:embed="rId5"/>
              <a:stretch>
                <a:fillRect b="-285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46177" y="3208902"/>
            <a:ext cx="2488671" cy="2488671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11087" y="0"/>
                  </a:moveTo>
                  <a:lnTo>
                    <a:pt x="501713" y="0"/>
                  </a:lnTo>
                  <a:cubicBezTo>
                    <a:pt x="673522" y="0"/>
                    <a:pt x="812800" y="139278"/>
                    <a:pt x="812800" y="311087"/>
                  </a:cubicBezTo>
                  <a:lnTo>
                    <a:pt x="812800" y="501713"/>
                  </a:lnTo>
                  <a:cubicBezTo>
                    <a:pt x="812800" y="673522"/>
                    <a:pt x="673522" y="812800"/>
                    <a:pt x="501713" y="812800"/>
                  </a:cubicBezTo>
                  <a:lnTo>
                    <a:pt x="311087" y="812800"/>
                  </a:lnTo>
                  <a:cubicBezTo>
                    <a:pt x="139278" y="812800"/>
                    <a:pt x="0" y="673522"/>
                    <a:pt x="0" y="501713"/>
                  </a:cubicBezTo>
                  <a:lnTo>
                    <a:pt x="0" y="311087"/>
                  </a:lnTo>
                  <a:cubicBezTo>
                    <a:pt x="0" y="139278"/>
                    <a:pt x="139278" y="0"/>
                    <a:pt x="311087" y="0"/>
                  </a:cubicBezTo>
                  <a:close/>
                </a:path>
              </a:pathLst>
            </a:custGeom>
            <a:blipFill>
              <a:blip r:embed="rId6"/>
              <a:stretch>
                <a:fillRect l="-175" r="-1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592248" y="3102804"/>
            <a:ext cx="2488671" cy="2488671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11087" y="0"/>
                  </a:moveTo>
                  <a:lnTo>
                    <a:pt x="501713" y="0"/>
                  </a:lnTo>
                  <a:cubicBezTo>
                    <a:pt x="673522" y="0"/>
                    <a:pt x="812800" y="139278"/>
                    <a:pt x="812800" y="311087"/>
                  </a:cubicBezTo>
                  <a:lnTo>
                    <a:pt x="812800" y="501713"/>
                  </a:lnTo>
                  <a:cubicBezTo>
                    <a:pt x="812800" y="673522"/>
                    <a:pt x="673522" y="812800"/>
                    <a:pt x="501713" y="812800"/>
                  </a:cubicBezTo>
                  <a:lnTo>
                    <a:pt x="311087" y="812800"/>
                  </a:lnTo>
                  <a:cubicBezTo>
                    <a:pt x="139278" y="812800"/>
                    <a:pt x="0" y="673522"/>
                    <a:pt x="0" y="501713"/>
                  </a:cubicBezTo>
                  <a:lnTo>
                    <a:pt x="0" y="311087"/>
                  </a:lnTo>
                  <a:cubicBezTo>
                    <a:pt x="0" y="139278"/>
                    <a:pt x="139278" y="0"/>
                    <a:pt x="311087" y="0"/>
                  </a:cubicBezTo>
                  <a:close/>
                </a:path>
              </a:pathLst>
            </a:custGeom>
            <a:blipFill>
              <a:blip r:embed="rId7"/>
              <a:stretch>
                <a:fillRect l="-2946" t="-446" b="-2625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45136" y="4859373"/>
            <a:ext cx="396857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Mr. Supunya Swarnakantha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30132" y="5268948"/>
            <a:ext cx="1598576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Supervisor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287260" y="4859373"/>
            <a:ext cx="3168015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Ms. Dulani Jayasinghe</a:t>
            </a:r>
          </a:p>
          <a:p>
            <a:pPr algn="ctr">
              <a:lnSpc>
                <a:spcPts val="3240"/>
              </a:lnSpc>
              <a:spcBef>
                <a:spcPct val="0"/>
              </a:spcBef>
            </a:pPr>
            <a:endParaRPr lang="en-US" sz="27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5752134" y="5268948"/>
            <a:ext cx="223826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 - Supervisor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229421" y="8040723"/>
            <a:ext cx="4519494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RP- 26-IT-028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6035384" y="5966300"/>
            <a:ext cx="534603" cy="534603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66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340517" y="8723697"/>
            <a:ext cx="534603" cy="534603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66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1161156" y="2523763"/>
            <a:ext cx="4893326" cy="448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65"/>
              </a:lnSpc>
            </a:pPr>
            <a:r>
              <a:rPr lang="en-US" sz="3269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OUR TEAM 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3" name="Freeform 3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221041" y="9213607"/>
            <a:ext cx="18288000" cy="271643"/>
            <a:chOff x="0" y="0"/>
            <a:chExt cx="24384000" cy="3621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362204"/>
            </a:xfrm>
            <a:custGeom>
              <a:avLst/>
              <a:gdLst/>
              <a:ahLst/>
              <a:cxnLst/>
              <a:rect l="l" t="t" r="r" b="b"/>
              <a:pathLst>
                <a:path w="24384000" h="362204">
                  <a:moveTo>
                    <a:pt x="0" y="362204"/>
                  </a:moveTo>
                  <a:lnTo>
                    <a:pt x="9606534" y="0"/>
                  </a:lnTo>
                  <a:lnTo>
                    <a:pt x="24384000" y="362204"/>
                  </a:ln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727614" y="8937563"/>
            <a:ext cx="10224545" cy="1980251"/>
            <a:chOff x="0" y="0"/>
            <a:chExt cx="13632726" cy="26403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32731" cy="2640335"/>
            </a:xfrm>
            <a:custGeom>
              <a:avLst/>
              <a:gdLst/>
              <a:ahLst/>
              <a:cxnLst/>
              <a:rect l="l" t="t" r="r" b="b"/>
              <a:pathLst>
                <a:path w="13632731" h="2640335">
                  <a:moveTo>
                    <a:pt x="0" y="0"/>
                  </a:moveTo>
                  <a:lnTo>
                    <a:pt x="13632731" y="0"/>
                  </a:lnTo>
                  <a:lnTo>
                    <a:pt x="13632731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777" b="-14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3632726" cy="265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RP-26-IT-028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8839887" y="494205"/>
            <a:ext cx="9074573" cy="4649299"/>
          </a:xfrm>
          <a:custGeom>
            <a:avLst/>
            <a:gdLst/>
            <a:ahLst/>
            <a:cxnLst/>
            <a:rect l="l" t="t" r="r" b="b"/>
            <a:pathLst>
              <a:path w="12269129" h="6286009">
                <a:moveTo>
                  <a:pt x="0" y="0"/>
                </a:moveTo>
                <a:lnTo>
                  <a:pt x="12269129" y="0"/>
                </a:lnTo>
                <a:lnTo>
                  <a:pt x="12269129" y="6286009"/>
                </a:lnTo>
                <a:lnTo>
                  <a:pt x="0" y="6286009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l="-2939" r="-71870" b="-329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2607097" y="224117"/>
            <a:ext cx="1362350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899" b="1" i="1">
                <a:solidFill>
                  <a:srgbClr val="000000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 Design and Development of IoT-Based Smart Maldive Fish Processing System</a:t>
            </a:r>
          </a:p>
        </p:txBody>
      </p:sp>
      <p:graphicFrame>
        <p:nvGraphicFramePr>
          <p:cNvPr id="33" name="Content Placeholder 3">
            <a:extLst>
              <a:ext uri="{FF2B5EF4-FFF2-40B4-BE49-F238E27FC236}">
                <a16:creationId xmlns:a16="http://schemas.microsoft.com/office/drawing/2014/main" id="{279E02DA-D256-E324-9AC8-58E6982C4C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8033295"/>
              </p:ext>
            </p:extLst>
          </p:nvPr>
        </p:nvGraphicFramePr>
        <p:xfrm>
          <a:off x="2146986" y="1636966"/>
          <a:ext cx="14083614" cy="6878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2830">
                  <a:extLst>
                    <a:ext uri="{9D8B030D-6E8A-4147-A177-3AD203B41FA5}">
                      <a16:colId xmlns:a16="http://schemas.microsoft.com/office/drawing/2014/main" val="211802632"/>
                    </a:ext>
                  </a:extLst>
                </a:gridCol>
                <a:gridCol w="8480784">
                  <a:extLst>
                    <a:ext uri="{9D8B030D-6E8A-4147-A177-3AD203B41FA5}">
                      <a16:colId xmlns:a16="http://schemas.microsoft.com/office/drawing/2014/main" val="2164991886"/>
                    </a:ext>
                  </a:extLst>
                </a:gridCol>
              </a:tblGrid>
              <a:tr h="1102049">
                <a:tc>
                  <a:txBody>
                    <a:bodyPr/>
                    <a:lstStyle/>
                    <a:p>
                      <a:r>
                        <a:rPr lang="en-US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we addressed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668600"/>
                  </a:ext>
                </a:extLst>
              </a:tr>
              <a:tr h="1144434"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Comment 1: Data sources were not clear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fish image data will be used for AI-based raw fish quality grading.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Dried fish image data will be used for final dried fish quality evaluation.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sensor data will be collected from the processing and drying environment.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data includes VOC, moisture, temperature, humidity,, salinity, and water-level readings.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5479"/>
                  </a:ext>
                </a:extLst>
              </a:tr>
              <a:tr h="1398754"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Comment 2: Features/factors were not clearly explained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fish quality checking using computer vision.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 optimization using IoT sensors and images.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Drying environment monitoring using temperature, humidity, and airflow sensors.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dried fish grading using image data and VOC sensor data.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 will show real-time monitoring, alerts, quality reports, and system status.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163336"/>
                  </a:ext>
                </a:extLst>
              </a:tr>
              <a:tr h="1387668"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Comment 3: Integration between components was unclear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Each component collects its own data and sends results to the central dashboard.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and IoT outputs are combined to support better decision-making. The system connects raw fish inspection, processing optimization, environmental monitoring, and final quality evaluation.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35371"/>
                  </a:ext>
                </a:extLst>
              </a:tr>
              <a:tr h="1387668"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Comment 4: Scope was too broad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the scope into four clear and manageable components.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Each member focuses on one specific part of the system.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now focuses only on Maldive fish processing quality improvement.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PP1 focuses on training model, prototype development, front-end, main functionalities, and integration.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5606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8DB02-08B8-060A-0E67-E4B3DDA64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6A6F1FF-2254-7667-722C-092CEA95048F}"/>
              </a:ext>
            </a:extLst>
          </p:cNvPr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3" name="Freeform 3" descr="A picture containing photo, table, person, monitor  Description automatically generated">
              <a:extLst>
                <a:ext uri="{FF2B5EF4-FFF2-40B4-BE49-F238E27FC236}">
                  <a16:creationId xmlns:a16="http://schemas.microsoft.com/office/drawing/2014/main" id="{9682BC95-0815-C5B0-5F52-1E64143150A2}"/>
                </a:ext>
              </a:extLst>
            </p:cNvPr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36477E48-FA06-271B-33D8-B386837A8086}"/>
              </a:ext>
            </a:extLst>
          </p:cNvPr>
          <p:cNvGrpSpPr/>
          <p:nvPr/>
        </p:nvGrpSpPr>
        <p:grpSpPr>
          <a:xfrm>
            <a:off x="-221041" y="9213607"/>
            <a:ext cx="18288000" cy="271643"/>
            <a:chOff x="0" y="0"/>
            <a:chExt cx="24384000" cy="36219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ED549EA-081E-0BCF-060A-DAD052162FDB}"/>
                </a:ext>
              </a:extLst>
            </p:cNvPr>
            <p:cNvSpPr/>
            <p:nvPr/>
          </p:nvSpPr>
          <p:spPr>
            <a:xfrm>
              <a:off x="0" y="0"/>
              <a:ext cx="24384000" cy="362204"/>
            </a:xfrm>
            <a:custGeom>
              <a:avLst/>
              <a:gdLst/>
              <a:ahLst/>
              <a:cxnLst/>
              <a:rect l="l" t="t" r="r" b="b"/>
              <a:pathLst>
                <a:path w="24384000" h="362204">
                  <a:moveTo>
                    <a:pt x="0" y="362204"/>
                  </a:moveTo>
                  <a:lnTo>
                    <a:pt x="9606534" y="0"/>
                  </a:lnTo>
                  <a:lnTo>
                    <a:pt x="24384000" y="362204"/>
                  </a:ln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54FEDAA-7755-23FD-8D52-F973C33EA0AF}"/>
              </a:ext>
            </a:extLst>
          </p:cNvPr>
          <p:cNvGrpSpPr/>
          <p:nvPr/>
        </p:nvGrpSpPr>
        <p:grpSpPr>
          <a:xfrm>
            <a:off x="3727614" y="8937563"/>
            <a:ext cx="10224545" cy="1980251"/>
            <a:chOff x="0" y="0"/>
            <a:chExt cx="13632726" cy="264033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BF1A39D-4C75-CDC3-F555-A7C0551CB59D}"/>
                </a:ext>
              </a:extLst>
            </p:cNvPr>
            <p:cNvSpPr/>
            <p:nvPr/>
          </p:nvSpPr>
          <p:spPr>
            <a:xfrm>
              <a:off x="0" y="0"/>
              <a:ext cx="13632731" cy="2640335"/>
            </a:xfrm>
            <a:custGeom>
              <a:avLst/>
              <a:gdLst/>
              <a:ahLst/>
              <a:cxnLst/>
              <a:rect l="l" t="t" r="r" b="b"/>
              <a:pathLst>
                <a:path w="13632731" h="2640335">
                  <a:moveTo>
                    <a:pt x="0" y="0"/>
                  </a:moveTo>
                  <a:lnTo>
                    <a:pt x="13632731" y="0"/>
                  </a:lnTo>
                  <a:lnTo>
                    <a:pt x="13632731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777" b="-14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0B5EA72-8091-2999-65AA-AAC6843C0B19}"/>
                </a:ext>
              </a:extLst>
            </p:cNvPr>
            <p:cNvSpPr txBox="1"/>
            <p:nvPr/>
          </p:nvSpPr>
          <p:spPr>
            <a:xfrm>
              <a:off x="0" y="-19050"/>
              <a:ext cx="13632726" cy="265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RP-26-IT-028</a:t>
              </a:r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1F875A2E-E40D-EE4A-E99A-48395C4F5B16}"/>
              </a:ext>
            </a:extLst>
          </p:cNvPr>
          <p:cNvSpPr/>
          <p:nvPr/>
        </p:nvSpPr>
        <p:spPr>
          <a:xfrm>
            <a:off x="8839887" y="494205"/>
            <a:ext cx="9074573" cy="4649299"/>
          </a:xfrm>
          <a:custGeom>
            <a:avLst/>
            <a:gdLst/>
            <a:ahLst/>
            <a:cxnLst/>
            <a:rect l="l" t="t" r="r" b="b"/>
            <a:pathLst>
              <a:path w="12269129" h="6286009">
                <a:moveTo>
                  <a:pt x="0" y="0"/>
                </a:moveTo>
                <a:lnTo>
                  <a:pt x="12269129" y="0"/>
                </a:lnTo>
                <a:lnTo>
                  <a:pt x="12269129" y="6286009"/>
                </a:lnTo>
                <a:lnTo>
                  <a:pt x="0" y="6286009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l="-2939" r="-71870" b="-329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CD17E7D-3A84-44DF-5BF5-F4363582AD01}"/>
              </a:ext>
            </a:extLst>
          </p:cNvPr>
          <p:cNvSpPr txBox="1"/>
          <p:nvPr/>
        </p:nvSpPr>
        <p:spPr>
          <a:xfrm>
            <a:off x="2607097" y="224117"/>
            <a:ext cx="1362350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899" b="1" i="1" dirty="0">
                <a:solidFill>
                  <a:srgbClr val="000000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 Design and Development of IoT-Based Smart Maldive Fish Processing System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33CB22DF-8132-5FAF-349A-93826EB8CDE1}"/>
              </a:ext>
            </a:extLst>
          </p:cNvPr>
          <p:cNvSpPr txBox="1">
            <a:spLocks/>
          </p:cNvSpPr>
          <p:nvPr/>
        </p:nvSpPr>
        <p:spPr>
          <a:xfrm>
            <a:off x="2077961" y="1943100"/>
            <a:ext cx="11879641" cy="61109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Problem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Maldive fish processing still depends heavily on manual inspection.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checking can cause inconsistent quality decisions.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Spoiled or low-quality fish may enter the processing line.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drying and processing conditions are difficult to control.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issues such as humidity, dust,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odor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poor airflow affect fish quality.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fish quality in the market.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cost. Slow processing and inspection.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hygiene and food safety.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poor-quality products reaching customers.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export standard and market trust.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723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31B25-3778-7682-A296-B301967C0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F5C90E3-C161-E8C2-0BE0-BDCD00C27E77}"/>
              </a:ext>
            </a:extLst>
          </p:cNvPr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3" name="Freeform 3" descr="A picture containing photo, table, person, monitor  Description automatically generated">
              <a:extLst>
                <a:ext uri="{FF2B5EF4-FFF2-40B4-BE49-F238E27FC236}">
                  <a16:creationId xmlns:a16="http://schemas.microsoft.com/office/drawing/2014/main" id="{B1223D63-4C9B-8F9D-BD6E-50904D3956A6}"/>
                </a:ext>
              </a:extLst>
            </p:cNvPr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263BC71-B211-D7EE-3F88-969503261428}"/>
              </a:ext>
            </a:extLst>
          </p:cNvPr>
          <p:cNvGrpSpPr/>
          <p:nvPr/>
        </p:nvGrpSpPr>
        <p:grpSpPr>
          <a:xfrm>
            <a:off x="-221041" y="9213607"/>
            <a:ext cx="18288000" cy="271643"/>
            <a:chOff x="0" y="0"/>
            <a:chExt cx="24384000" cy="36219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2890F7B-A5AA-5700-C4AB-D633F9B6541E}"/>
                </a:ext>
              </a:extLst>
            </p:cNvPr>
            <p:cNvSpPr/>
            <p:nvPr/>
          </p:nvSpPr>
          <p:spPr>
            <a:xfrm>
              <a:off x="0" y="0"/>
              <a:ext cx="24384000" cy="362204"/>
            </a:xfrm>
            <a:custGeom>
              <a:avLst/>
              <a:gdLst/>
              <a:ahLst/>
              <a:cxnLst/>
              <a:rect l="l" t="t" r="r" b="b"/>
              <a:pathLst>
                <a:path w="24384000" h="362204">
                  <a:moveTo>
                    <a:pt x="0" y="362204"/>
                  </a:moveTo>
                  <a:lnTo>
                    <a:pt x="9606534" y="0"/>
                  </a:lnTo>
                  <a:lnTo>
                    <a:pt x="24384000" y="362204"/>
                  </a:ln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55E4906-67F1-6D76-044B-3A817BCFD828}"/>
              </a:ext>
            </a:extLst>
          </p:cNvPr>
          <p:cNvGrpSpPr/>
          <p:nvPr/>
        </p:nvGrpSpPr>
        <p:grpSpPr>
          <a:xfrm>
            <a:off x="3727614" y="8937563"/>
            <a:ext cx="10224545" cy="1980251"/>
            <a:chOff x="0" y="0"/>
            <a:chExt cx="13632726" cy="264033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5C01DCF-496D-5F59-634C-41488DB21742}"/>
                </a:ext>
              </a:extLst>
            </p:cNvPr>
            <p:cNvSpPr/>
            <p:nvPr/>
          </p:nvSpPr>
          <p:spPr>
            <a:xfrm>
              <a:off x="0" y="0"/>
              <a:ext cx="13632731" cy="2640335"/>
            </a:xfrm>
            <a:custGeom>
              <a:avLst/>
              <a:gdLst/>
              <a:ahLst/>
              <a:cxnLst/>
              <a:rect l="l" t="t" r="r" b="b"/>
              <a:pathLst>
                <a:path w="13632731" h="2640335">
                  <a:moveTo>
                    <a:pt x="0" y="0"/>
                  </a:moveTo>
                  <a:lnTo>
                    <a:pt x="13632731" y="0"/>
                  </a:lnTo>
                  <a:lnTo>
                    <a:pt x="13632731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777" b="-14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306DE15-E305-3945-47DE-753AF939B5E0}"/>
                </a:ext>
              </a:extLst>
            </p:cNvPr>
            <p:cNvSpPr txBox="1"/>
            <p:nvPr/>
          </p:nvSpPr>
          <p:spPr>
            <a:xfrm>
              <a:off x="0" y="-19050"/>
              <a:ext cx="13632726" cy="265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RP-26-IT-028</a:t>
              </a:r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EAB18550-9637-E4A6-6D4C-AB92655ACE23}"/>
              </a:ext>
            </a:extLst>
          </p:cNvPr>
          <p:cNvSpPr/>
          <p:nvPr/>
        </p:nvSpPr>
        <p:spPr>
          <a:xfrm>
            <a:off x="8839887" y="494205"/>
            <a:ext cx="9074573" cy="4649299"/>
          </a:xfrm>
          <a:custGeom>
            <a:avLst/>
            <a:gdLst/>
            <a:ahLst/>
            <a:cxnLst/>
            <a:rect l="l" t="t" r="r" b="b"/>
            <a:pathLst>
              <a:path w="12269129" h="6286009">
                <a:moveTo>
                  <a:pt x="0" y="0"/>
                </a:moveTo>
                <a:lnTo>
                  <a:pt x="12269129" y="0"/>
                </a:lnTo>
                <a:lnTo>
                  <a:pt x="12269129" y="6286009"/>
                </a:lnTo>
                <a:lnTo>
                  <a:pt x="0" y="6286009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l="-2939" r="-71870" b="-329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3DA9CB1-06C7-8CD3-EBE7-B2885D14CC55}"/>
              </a:ext>
            </a:extLst>
          </p:cNvPr>
          <p:cNvSpPr txBox="1"/>
          <p:nvPr/>
        </p:nvSpPr>
        <p:spPr>
          <a:xfrm>
            <a:off x="2607097" y="224117"/>
            <a:ext cx="1362350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899" b="1" i="1">
                <a:solidFill>
                  <a:srgbClr val="000000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 Design and Development of IoT-Based Smart Maldive Fish Processing System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14518606-08D3-4658-FBBD-4CD4BF7BEDC9}"/>
              </a:ext>
            </a:extLst>
          </p:cNvPr>
          <p:cNvSpPr txBox="1">
            <a:spLocks/>
          </p:cNvSpPr>
          <p:nvPr/>
        </p:nvSpPr>
        <p:spPr>
          <a:xfrm>
            <a:off x="3195259" y="1615219"/>
            <a:ext cx="11455400" cy="75983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400" b="1" dirty="0"/>
              <a:t>Main Users</a:t>
            </a:r>
          </a:p>
          <a:p>
            <a:r>
              <a:rPr lang="en-GB" sz="2400" dirty="0"/>
              <a:t>Fish processing operators. </a:t>
            </a:r>
          </a:p>
          <a:p>
            <a:r>
              <a:rPr lang="en-GB" sz="2400" dirty="0"/>
              <a:t>Seafood exporters. </a:t>
            </a:r>
          </a:p>
          <a:p>
            <a:r>
              <a:rPr lang="en-GB" sz="2400" dirty="0"/>
              <a:t>Distributors. </a:t>
            </a:r>
          </a:p>
          <a:p>
            <a:r>
              <a:rPr lang="en-GB" sz="2400" dirty="0"/>
              <a:t>Consumers indirectly benefit from safer and better-quality products.</a:t>
            </a:r>
          </a:p>
          <a:p>
            <a:pPr marL="0" indent="0">
              <a:buFont typeface="Arial" pitchFamily="34" charset="0"/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GB" sz="2400" b="1" dirty="0"/>
              <a:t>Key Features</a:t>
            </a:r>
          </a:p>
          <a:p>
            <a:r>
              <a:rPr lang="en-GB" sz="2400" dirty="0"/>
              <a:t>AI-based raw fish quality assessment. </a:t>
            </a:r>
          </a:p>
          <a:p>
            <a:r>
              <a:rPr lang="en-GB" sz="2400" dirty="0"/>
              <a:t>Smart optimization of mechanical efficiency and salt distribution. </a:t>
            </a:r>
          </a:p>
          <a:p>
            <a:r>
              <a:rPr lang="en-GB" sz="2400" dirty="0"/>
              <a:t>IoT-based environmental monitoring for drying areas. </a:t>
            </a:r>
          </a:p>
          <a:p>
            <a:r>
              <a:rPr lang="en-GB" sz="2400" dirty="0"/>
              <a:t>Multi-sensor quality evaluation for dried Maldive fish. </a:t>
            </a:r>
          </a:p>
          <a:p>
            <a:pPr marL="0" indent="0">
              <a:buFont typeface="Arial" pitchFamily="34" charset="0"/>
              <a:buNone/>
            </a:pPr>
            <a:endParaRPr lang="en-GB" sz="2400" dirty="0"/>
          </a:p>
          <a:p>
            <a:pPr marL="0" indent="0">
              <a:buFont typeface="Arial" pitchFamily="34" charset="0"/>
              <a:buNone/>
            </a:pPr>
            <a:r>
              <a:rPr lang="en-GB" sz="2400" b="1" dirty="0"/>
              <a:t>Benefits</a:t>
            </a:r>
          </a:p>
          <a:p>
            <a:r>
              <a:rPr lang="en-GB" sz="2400" dirty="0"/>
              <a:t>Reduces manual inspection errors. </a:t>
            </a:r>
          </a:p>
          <a:p>
            <a:r>
              <a:rPr lang="en-GB" sz="2400" dirty="0"/>
              <a:t>Improves fish quality consistency. </a:t>
            </a:r>
          </a:p>
          <a:p>
            <a:r>
              <a:rPr lang="en-GB" sz="2400" dirty="0"/>
              <a:t>Supports faster quality decisions. </a:t>
            </a:r>
          </a:p>
          <a:p>
            <a:r>
              <a:rPr lang="en-GB" sz="2400" dirty="0"/>
              <a:t>Improves processing efficiency</a:t>
            </a:r>
          </a:p>
          <a:p>
            <a:pPr marL="0" indent="0">
              <a:buFont typeface="Arial" pitchFamily="34" charset="0"/>
              <a:buNone/>
            </a:pPr>
            <a:endParaRPr lang="en-GB" sz="2400" dirty="0"/>
          </a:p>
          <a:p>
            <a:pPr marL="0" indent="0">
              <a:buFont typeface="Arial" pitchFamily="34" charset="0"/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itchFamily="34" charset="0"/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415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3" name="Freeform 3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0015357"/>
            <a:ext cx="18288000" cy="271643"/>
            <a:chOff x="0" y="0"/>
            <a:chExt cx="24384000" cy="3621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362204"/>
            </a:xfrm>
            <a:custGeom>
              <a:avLst/>
              <a:gdLst/>
              <a:ahLst/>
              <a:cxnLst/>
              <a:rect l="l" t="t" r="r" b="b"/>
              <a:pathLst>
                <a:path w="24384000" h="362204">
                  <a:moveTo>
                    <a:pt x="0" y="362204"/>
                  </a:moveTo>
                  <a:lnTo>
                    <a:pt x="9606534" y="0"/>
                  </a:lnTo>
                  <a:lnTo>
                    <a:pt x="24384000" y="362204"/>
                  </a:ln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14967911" y="0"/>
            <a:ext cx="3281989" cy="3270494"/>
          </a:xfrm>
          <a:custGeom>
            <a:avLst/>
            <a:gdLst/>
            <a:ahLst/>
            <a:cxnLst/>
            <a:rect l="l" t="t" r="r" b="b"/>
            <a:pathLst>
              <a:path w="3281989" h="3270494">
                <a:moveTo>
                  <a:pt x="0" y="0"/>
                </a:moveTo>
                <a:lnTo>
                  <a:pt x="3281989" y="0"/>
                </a:lnTo>
                <a:lnTo>
                  <a:pt x="3281989" y="3270494"/>
                </a:lnTo>
                <a:lnTo>
                  <a:pt x="0" y="32704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0" y="3905250"/>
            <a:ext cx="17514214" cy="2466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9"/>
              </a:lnSpc>
              <a:spcBef>
                <a:spcPct val="0"/>
              </a:spcBef>
            </a:pPr>
            <a:r>
              <a:rPr lang="en-US" sz="53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AI-Driven Raw Fish Quality Assessment &amp; Standardization</a:t>
            </a:r>
          </a:p>
          <a:p>
            <a:pPr algn="ctr">
              <a:lnSpc>
                <a:spcPts val="6479"/>
              </a:lnSpc>
              <a:spcBef>
                <a:spcPct val="0"/>
              </a:spcBef>
            </a:pPr>
            <a:endParaRPr lang="en-US" sz="5399" b="1" dirty="0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4164464" y="8956265"/>
            <a:ext cx="10224545" cy="2389826"/>
            <a:chOff x="0" y="0"/>
            <a:chExt cx="13632726" cy="31864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632731" cy="3186435"/>
            </a:xfrm>
            <a:custGeom>
              <a:avLst/>
              <a:gdLst/>
              <a:ahLst/>
              <a:cxnLst/>
              <a:rect l="l" t="t" r="r" b="b"/>
              <a:pathLst>
                <a:path w="13632731" h="3186435">
                  <a:moveTo>
                    <a:pt x="0" y="0"/>
                  </a:moveTo>
                  <a:lnTo>
                    <a:pt x="13632731" y="0"/>
                  </a:lnTo>
                  <a:lnTo>
                    <a:pt x="13632731" y="3186435"/>
                  </a:lnTo>
                  <a:lnTo>
                    <a:pt x="0" y="31864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905" b="517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3632726" cy="3205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IT22300096</a:t>
              </a:r>
              <a:r>
                <a:rPr lang="en-US" sz="2700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  |   </a:t>
              </a:r>
              <a:r>
                <a:rPr lang="en-US" sz="2700" dirty="0" err="1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Madurawala</a:t>
              </a:r>
              <a:r>
                <a:rPr lang="en-US" sz="2700" b="1" dirty="0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 </a:t>
              </a:r>
              <a:r>
                <a:rPr lang="en-US" sz="2700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M. D. S. S.| RP-26-IT-028</a:t>
              </a:r>
            </a:p>
            <a:p>
              <a:pPr algn="l">
                <a:lnSpc>
                  <a:spcPts val="3240"/>
                </a:lnSpc>
              </a:pPr>
              <a:endParaRPr lang="en-US" sz="27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59957"/>
            <a:ext cx="3771900" cy="735425"/>
            <a:chOff x="0" y="0"/>
            <a:chExt cx="5029200" cy="980567"/>
          </a:xfrm>
        </p:grpSpPr>
        <p:sp>
          <p:nvSpPr>
            <p:cNvPr id="3" name="Freeform 3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106252" y="495300"/>
            <a:ext cx="1472359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400" b="1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AI-Driven Raw Fish Quality Assessment &amp; Standardization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164464" y="8941978"/>
            <a:ext cx="10224549" cy="2404113"/>
            <a:chOff x="0" y="-19050"/>
            <a:chExt cx="13632731" cy="32054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32731" cy="3186435"/>
            </a:xfrm>
            <a:custGeom>
              <a:avLst/>
              <a:gdLst/>
              <a:ahLst/>
              <a:cxnLst/>
              <a:rect l="l" t="t" r="r" b="b"/>
              <a:pathLst>
                <a:path w="13632731" h="3186435">
                  <a:moveTo>
                    <a:pt x="0" y="0"/>
                  </a:moveTo>
                  <a:lnTo>
                    <a:pt x="13632731" y="0"/>
                  </a:lnTo>
                  <a:lnTo>
                    <a:pt x="13632731" y="3186435"/>
                  </a:lnTo>
                  <a:lnTo>
                    <a:pt x="0" y="31864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905" b="517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3632726" cy="3205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IT22300096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  |   Madurawala</a:t>
              </a: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 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M. D. S. S.| RP-26-IT-028</a:t>
              </a:r>
            </a:p>
            <a:p>
              <a:pPr algn="l">
                <a:lnSpc>
                  <a:spcPts val="3240"/>
                </a:lnSpc>
              </a:pPr>
              <a:endPara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5F4983D-4734-97EF-28C9-5D4854455A59}"/>
              </a:ext>
            </a:extLst>
          </p:cNvPr>
          <p:cNvSpPr txBox="1"/>
          <p:nvPr/>
        </p:nvSpPr>
        <p:spPr>
          <a:xfrm>
            <a:off x="2102394" y="1257300"/>
            <a:ext cx="117348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fish quality is currently checked manually.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grading causes human errors.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Inspection process is slow.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Substandard fish may enter production.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grading increases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dependency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AI-based computer vision system.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raw fish images using a camera.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defects and classify fish quality.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fish into Grade A, Grade B, or Reject.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results to the dashboard for monitoring. 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Requirements Addressed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needs faster raw fish quality checking.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needs accurate and consistent grading.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needs reduced manual inspection.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needs automatic sorting support.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needs quality reports for decision-making.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0A01D-5ADD-AE92-C07D-4A6E1C1A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4D3F26E-7111-3882-6962-7421C19ABBC0}"/>
              </a:ext>
            </a:extLst>
          </p:cNvPr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3" name="Freeform 3" descr="A picture containing photo, table, person, monitor  Description automatically generated">
              <a:extLst>
                <a:ext uri="{FF2B5EF4-FFF2-40B4-BE49-F238E27FC236}">
                  <a16:creationId xmlns:a16="http://schemas.microsoft.com/office/drawing/2014/main" id="{D6566979-DE18-A9B7-BD48-4B281F401A05}"/>
                </a:ext>
              </a:extLst>
            </p:cNvPr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AFF5300E-3A58-0D09-6363-E68D1510FB62}"/>
              </a:ext>
            </a:extLst>
          </p:cNvPr>
          <p:cNvSpPr txBox="1"/>
          <p:nvPr/>
        </p:nvSpPr>
        <p:spPr>
          <a:xfrm>
            <a:off x="2106252" y="495300"/>
            <a:ext cx="1472359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400" b="1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AI-Driven Raw Fish Quality Assessment &amp; Standardization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A0396D63-CC33-63FD-61C8-6580E9547950}"/>
              </a:ext>
            </a:extLst>
          </p:cNvPr>
          <p:cNvGrpSpPr/>
          <p:nvPr/>
        </p:nvGrpSpPr>
        <p:grpSpPr>
          <a:xfrm>
            <a:off x="4164464" y="8956265"/>
            <a:ext cx="10224545" cy="2389826"/>
            <a:chOff x="0" y="0"/>
            <a:chExt cx="13632726" cy="318643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285CA0D-7E20-3777-D1E4-3A3623EE7D96}"/>
                </a:ext>
              </a:extLst>
            </p:cNvPr>
            <p:cNvSpPr/>
            <p:nvPr/>
          </p:nvSpPr>
          <p:spPr>
            <a:xfrm>
              <a:off x="0" y="0"/>
              <a:ext cx="13632731" cy="3186435"/>
            </a:xfrm>
            <a:custGeom>
              <a:avLst/>
              <a:gdLst/>
              <a:ahLst/>
              <a:cxnLst/>
              <a:rect l="l" t="t" r="r" b="b"/>
              <a:pathLst>
                <a:path w="13632731" h="3186435">
                  <a:moveTo>
                    <a:pt x="0" y="0"/>
                  </a:moveTo>
                  <a:lnTo>
                    <a:pt x="13632731" y="0"/>
                  </a:lnTo>
                  <a:lnTo>
                    <a:pt x="13632731" y="3186435"/>
                  </a:lnTo>
                  <a:lnTo>
                    <a:pt x="0" y="31864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905" b="517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4726907-990A-57F1-C4EB-9417BC47E810}"/>
                </a:ext>
              </a:extLst>
            </p:cNvPr>
            <p:cNvSpPr txBox="1"/>
            <p:nvPr/>
          </p:nvSpPr>
          <p:spPr>
            <a:xfrm>
              <a:off x="0" y="-19050"/>
              <a:ext cx="13632726" cy="3205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IT22300096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  |   Madurawala</a:t>
              </a: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 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M. D. S. S.| RP-26-IT-028</a:t>
              </a:r>
            </a:p>
            <a:p>
              <a:pPr algn="l">
                <a:lnSpc>
                  <a:spcPts val="3240"/>
                </a:lnSpc>
              </a:pPr>
              <a:endPara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7968627-08FE-2D63-4831-9DA56D06DF5F}"/>
              </a:ext>
            </a:extLst>
          </p:cNvPr>
          <p:cNvSpPr txBox="1"/>
          <p:nvPr/>
        </p:nvSpPr>
        <p:spPr>
          <a:xfrm>
            <a:off x="1676400" y="1274424"/>
            <a:ext cx="105156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Excellence / Contribution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 and computer vision for raw fish inspection.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YOLO-based detection for real-time defect detection.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automated grading before fish enters the processing line.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manual judgment.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standardization of raw fish quality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YOLO11s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module.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– 83%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– 84%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83%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 – 83%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ED37BC-81D8-D7E4-7151-AF42B99A4D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1042987"/>
            <a:ext cx="8077200" cy="33078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9CF16A-A55A-CDB0-7F5B-D30A0EFCF9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7378" y="4566149"/>
            <a:ext cx="5426209" cy="499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788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3" name="Freeform 3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0015357"/>
            <a:ext cx="18288000" cy="271643"/>
            <a:chOff x="0" y="0"/>
            <a:chExt cx="24384000" cy="3621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362204"/>
            </a:xfrm>
            <a:custGeom>
              <a:avLst/>
              <a:gdLst/>
              <a:ahLst/>
              <a:cxnLst/>
              <a:rect l="l" t="t" r="r" b="b"/>
              <a:pathLst>
                <a:path w="24384000" h="362204">
                  <a:moveTo>
                    <a:pt x="0" y="362204"/>
                  </a:moveTo>
                  <a:lnTo>
                    <a:pt x="9606534" y="0"/>
                  </a:lnTo>
                  <a:lnTo>
                    <a:pt x="24384000" y="362204"/>
                  </a:ln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948655" y="9739312"/>
            <a:ext cx="10224545" cy="1980251"/>
            <a:chOff x="0" y="0"/>
            <a:chExt cx="13632726" cy="26403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32731" cy="2640335"/>
            </a:xfrm>
            <a:custGeom>
              <a:avLst/>
              <a:gdLst/>
              <a:ahLst/>
              <a:cxnLst/>
              <a:rect l="l" t="t" r="r" b="b"/>
              <a:pathLst>
                <a:path w="13632731" h="2640335">
                  <a:moveTo>
                    <a:pt x="0" y="0"/>
                  </a:moveTo>
                  <a:lnTo>
                    <a:pt x="13632731" y="0"/>
                  </a:lnTo>
                  <a:lnTo>
                    <a:pt x="13632731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777" b="-14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3632726" cy="265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ITXXXXXXXX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  |   &lt;</a:t>
              </a: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&lt;Student Name&gt;&gt;   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  &lt;&lt;Project ID&gt;&gt;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4858696" y="319088"/>
            <a:ext cx="3088570" cy="3467100"/>
          </a:xfrm>
          <a:custGeom>
            <a:avLst/>
            <a:gdLst/>
            <a:ahLst/>
            <a:cxnLst/>
            <a:rect l="l" t="t" r="r" b="b"/>
            <a:pathLst>
              <a:path w="3088570" h="3467100">
                <a:moveTo>
                  <a:pt x="0" y="0"/>
                </a:moveTo>
                <a:lnTo>
                  <a:pt x="3088570" y="0"/>
                </a:lnTo>
                <a:lnTo>
                  <a:pt x="3088570" y="3467100"/>
                </a:lnTo>
                <a:lnTo>
                  <a:pt x="0" y="3467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46" t="-6434" b="-643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2024240" y="3320219"/>
            <a:ext cx="12734953" cy="574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Smart Optimization of Mechanical Efficiency and Salt Distribution using IOT AI</a:t>
            </a:r>
          </a:p>
          <a:p>
            <a:pPr algn="ctr">
              <a:lnSpc>
                <a:spcPts val="6480"/>
              </a:lnSpc>
              <a:spcBef>
                <a:spcPct val="0"/>
              </a:spcBef>
            </a:pPr>
            <a:endParaRPr lang="en-US" sz="5400" b="1" dirty="0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  <a:p>
            <a:pPr algn="ctr">
              <a:lnSpc>
                <a:spcPts val="6480"/>
              </a:lnSpc>
              <a:spcBef>
                <a:spcPct val="0"/>
              </a:spcBef>
            </a:pPr>
            <a:endParaRPr lang="en-US" sz="5400" b="1" dirty="0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  <a:p>
            <a:pPr algn="ctr">
              <a:lnSpc>
                <a:spcPts val="6480"/>
              </a:lnSpc>
              <a:spcBef>
                <a:spcPct val="0"/>
              </a:spcBef>
            </a:pPr>
            <a:endParaRPr lang="en-US" sz="5400" b="1" dirty="0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  <a:p>
            <a:pPr algn="ctr">
              <a:lnSpc>
                <a:spcPts val="6480"/>
              </a:lnSpc>
              <a:spcBef>
                <a:spcPct val="0"/>
              </a:spcBef>
            </a:pPr>
            <a:endParaRPr lang="en-US" sz="5400" b="1" dirty="0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4534648" y="9023031"/>
            <a:ext cx="10224545" cy="1980251"/>
            <a:chOff x="0" y="0"/>
            <a:chExt cx="13632726" cy="26403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632731" cy="2640335"/>
            </a:xfrm>
            <a:custGeom>
              <a:avLst/>
              <a:gdLst/>
              <a:ahLst/>
              <a:cxnLst/>
              <a:rect l="l" t="t" r="r" b="b"/>
              <a:pathLst>
                <a:path w="13632731" h="2640335">
                  <a:moveTo>
                    <a:pt x="0" y="0"/>
                  </a:moveTo>
                  <a:lnTo>
                    <a:pt x="13632731" y="0"/>
                  </a:lnTo>
                  <a:lnTo>
                    <a:pt x="13632731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777" b="-14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3632726" cy="265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IT22341686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  Ramesh J N G A</a:t>
              </a: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  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  R26-IT-028 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3" name="Freeform 3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534648" y="9023031"/>
            <a:ext cx="10224545" cy="1980251"/>
            <a:chOff x="0" y="0"/>
            <a:chExt cx="13632726" cy="26403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632731" cy="2640335"/>
            </a:xfrm>
            <a:custGeom>
              <a:avLst/>
              <a:gdLst/>
              <a:ahLst/>
              <a:cxnLst/>
              <a:rect l="l" t="t" r="r" b="b"/>
              <a:pathLst>
                <a:path w="13632731" h="2640335">
                  <a:moveTo>
                    <a:pt x="0" y="0"/>
                  </a:moveTo>
                  <a:lnTo>
                    <a:pt x="13632731" y="0"/>
                  </a:lnTo>
                  <a:lnTo>
                    <a:pt x="13632731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777" b="-14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3632726" cy="265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IT22341686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  Ramesh J N G A</a:t>
              </a: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  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  R26-IT-028 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47562" y="225841"/>
            <a:ext cx="14941316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4AAD"/>
                </a:solidFill>
                <a:latin typeface="Cambria"/>
                <a:ea typeface="Cambria"/>
                <a:cs typeface="Cambria"/>
                <a:sym typeface="Cambria"/>
              </a:rPr>
              <a:t>Smart Optimization of Mechanical Efficiency and Salt Distribution in Maldive Fish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853659-2FA5-9A0C-D121-17A2DE4DBAB2}"/>
              </a:ext>
            </a:extLst>
          </p:cNvPr>
          <p:cNvSpPr txBox="1"/>
          <p:nvPr/>
        </p:nvSpPr>
        <p:spPr>
          <a:xfrm>
            <a:off x="1885950" y="1219349"/>
            <a:ext cx="110490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boiling and salting methods are manually controlled.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salt levels affect product quality.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water-level control affects processing consistency.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inefficiency increases energy usage and processing time.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control can lead to waste and uneven quality. 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IoT sensors to monitor processing conditions.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RPM, torque, water level, salinity, temperature, and humidity.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AI/ML to support process optimization.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suggest or trigger adjustments.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processing data to the dashboard.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Requirements Addressed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needs stable salt distribution.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needs better water-level monitoring.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needs efficient machine operation.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needs reduced processing waste.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needs real-time processing condition updates.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358DD-6E0B-8EB0-3AC2-3291F8E87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8CAE36-4025-5AF8-5278-4AFE28EA0B1F}"/>
              </a:ext>
            </a:extLst>
          </p:cNvPr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3" name="Freeform 3" descr="A picture containing photo, table, person, monitor  Description automatically generated">
              <a:extLst>
                <a:ext uri="{FF2B5EF4-FFF2-40B4-BE49-F238E27FC236}">
                  <a16:creationId xmlns:a16="http://schemas.microsoft.com/office/drawing/2014/main" id="{0935B322-6E73-9D65-F830-E70ACC63B171}"/>
                </a:ext>
              </a:extLst>
            </p:cNvPr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F66450A-0770-B9D5-B3AD-298FD598C648}"/>
              </a:ext>
            </a:extLst>
          </p:cNvPr>
          <p:cNvGrpSpPr/>
          <p:nvPr/>
        </p:nvGrpSpPr>
        <p:grpSpPr>
          <a:xfrm>
            <a:off x="4534648" y="9023031"/>
            <a:ext cx="10224545" cy="1980251"/>
            <a:chOff x="0" y="0"/>
            <a:chExt cx="13632726" cy="2640335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63F510B-788E-33A8-D687-7B33CD99DFCD}"/>
                </a:ext>
              </a:extLst>
            </p:cNvPr>
            <p:cNvSpPr/>
            <p:nvPr/>
          </p:nvSpPr>
          <p:spPr>
            <a:xfrm>
              <a:off x="0" y="0"/>
              <a:ext cx="13632731" cy="2640335"/>
            </a:xfrm>
            <a:custGeom>
              <a:avLst/>
              <a:gdLst/>
              <a:ahLst/>
              <a:cxnLst/>
              <a:rect l="l" t="t" r="r" b="b"/>
              <a:pathLst>
                <a:path w="13632731" h="2640335">
                  <a:moveTo>
                    <a:pt x="0" y="0"/>
                  </a:moveTo>
                  <a:lnTo>
                    <a:pt x="13632731" y="0"/>
                  </a:lnTo>
                  <a:lnTo>
                    <a:pt x="13632731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777" b="-14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08D6B3AA-A947-160F-75F5-C76F1C4C36AF}"/>
                </a:ext>
              </a:extLst>
            </p:cNvPr>
            <p:cNvSpPr txBox="1"/>
            <p:nvPr/>
          </p:nvSpPr>
          <p:spPr>
            <a:xfrm>
              <a:off x="0" y="-19050"/>
              <a:ext cx="13632726" cy="265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IT22341686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  Ramesh J N G A</a:t>
              </a: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  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  R26-IT-028 </a:t>
              </a:r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1705B108-7035-F318-78BC-CEBF4E543F5D}"/>
              </a:ext>
            </a:extLst>
          </p:cNvPr>
          <p:cNvSpPr txBox="1"/>
          <p:nvPr/>
        </p:nvSpPr>
        <p:spPr>
          <a:xfrm>
            <a:off x="1147562" y="225841"/>
            <a:ext cx="14941316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4AAD"/>
                </a:solidFill>
                <a:latin typeface="Cambria"/>
                <a:ea typeface="Cambria"/>
                <a:cs typeface="Cambria"/>
                <a:sym typeface="Cambria"/>
              </a:rPr>
              <a:t>Smart Optimization of Mechanical Efficiency and Salt Distribution in Maldive Fish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2B745F-095C-6A2B-57B1-4F66B6DEC1A0}"/>
              </a:ext>
            </a:extLst>
          </p:cNvPr>
          <p:cNvSpPr txBox="1"/>
          <p:nvPr/>
        </p:nvSpPr>
        <p:spPr>
          <a:xfrm>
            <a:off x="1447800" y="971371"/>
            <a:ext cx="11049000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Excellence / Contribution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IoT sensor monitoring with AI-based optimization.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real-time control of mechanical and processing parameters.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consistency of Maldive fish processing.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energy waste and post-processing losses.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smart decision-making to traditional processing methods.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sensors.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RPM sensor.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Torque sensor.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Water-level sensor.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Salinity sensor.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and humidity sensors.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/ ESP32.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models.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Salt uniformity.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Water-level stability.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efficiency.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usage.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time.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24AB65-98A5-6F20-CD34-999B8ADFA7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79" y="4346770"/>
            <a:ext cx="8663035" cy="521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324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3" name="Freeform 3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0015357"/>
            <a:ext cx="18288000" cy="271643"/>
            <a:chOff x="0" y="0"/>
            <a:chExt cx="24384000" cy="3621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362204"/>
            </a:xfrm>
            <a:custGeom>
              <a:avLst/>
              <a:gdLst/>
              <a:ahLst/>
              <a:cxnLst/>
              <a:rect l="l" t="t" r="r" b="b"/>
              <a:pathLst>
                <a:path w="24384000" h="362204">
                  <a:moveTo>
                    <a:pt x="0" y="362204"/>
                  </a:moveTo>
                  <a:lnTo>
                    <a:pt x="9606534" y="0"/>
                  </a:lnTo>
                  <a:lnTo>
                    <a:pt x="24384000" y="362204"/>
                  </a:ln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031728" y="9025231"/>
            <a:ext cx="10224545" cy="1980251"/>
            <a:chOff x="0" y="0"/>
            <a:chExt cx="13632726" cy="26403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32731" cy="2640335"/>
            </a:xfrm>
            <a:custGeom>
              <a:avLst/>
              <a:gdLst/>
              <a:ahLst/>
              <a:cxnLst/>
              <a:rect l="l" t="t" r="r" b="b"/>
              <a:pathLst>
                <a:path w="13632731" h="2640335">
                  <a:moveTo>
                    <a:pt x="0" y="0"/>
                  </a:moveTo>
                  <a:lnTo>
                    <a:pt x="13632731" y="0"/>
                  </a:lnTo>
                  <a:lnTo>
                    <a:pt x="13632731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777" b="-14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3632726" cy="265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IT22340214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  |   Bandara CS</a:t>
              </a: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  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  R26-IT-028 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5142821" y="296409"/>
            <a:ext cx="2937558" cy="3464830"/>
          </a:xfrm>
          <a:custGeom>
            <a:avLst/>
            <a:gdLst/>
            <a:ahLst/>
            <a:cxnLst/>
            <a:rect l="l" t="t" r="r" b="b"/>
            <a:pathLst>
              <a:path w="2937558" h="3464830">
                <a:moveTo>
                  <a:pt x="0" y="0"/>
                </a:moveTo>
                <a:lnTo>
                  <a:pt x="2937558" y="0"/>
                </a:lnTo>
                <a:lnTo>
                  <a:pt x="2937558" y="3464830"/>
                </a:lnTo>
                <a:lnTo>
                  <a:pt x="0" y="3464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240" b="-67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85800" y="3761239"/>
            <a:ext cx="16230600" cy="2466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9"/>
              </a:lnSpc>
              <a:spcBef>
                <a:spcPct val="0"/>
              </a:spcBef>
            </a:pPr>
            <a:r>
              <a:rPr lang="en-US" sz="53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Intelligent IoT-Based Multi-Parameter Environmental Monitoring for Fish Processing Optimization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3" name="Freeform 3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56481" y="144356"/>
            <a:ext cx="1552396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4AAD"/>
                </a:solidFill>
                <a:latin typeface="Cambria Bold"/>
                <a:ea typeface="Cambria Bold"/>
                <a:cs typeface="Cambria Bold"/>
                <a:sym typeface="Cambria Bold"/>
              </a:rPr>
              <a:t>Intelligent IoT-Based Multi-Parameter Environmental Monitoring for Fish Processing Optimization 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771900" y="9025231"/>
            <a:ext cx="10224545" cy="1980251"/>
            <a:chOff x="0" y="0"/>
            <a:chExt cx="13632726" cy="264033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632731" cy="2640335"/>
            </a:xfrm>
            <a:custGeom>
              <a:avLst/>
              <a:gdLst/>
              <a:ahLst/>
              <a:cxnLst/>
              <a:rect l="l" t="t" r="r" b="b"/>
              <a:pathLst>
                <a:path w="13632731" h="2640335">
                  <a:moveTo>
                    <a:pt x="0" y="0"/>
                  </a:moveTo>
                  <a:lnTo>
                    <a:pt x="13632731" y="0"/>
                  </a:lnTo>
                  <a:lnTo>
                    <a:pt x="13632731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777" b="-14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3632726" cy="265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IT22340214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  |   Bandara CS</a:t>
              </a: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  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  R26-IT-028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869BAD1-49DD-B1E6-0439-81AC7C1D475E}"/>
              </a:ext>
            </a:extLst>
          </p:cNvPr>
          <p:cNvSpPr txBox="1"/>
          <p:nvPr/>
        </p:nvSpPr>
        <p:spPr>
          <a:xfrm>
            <a:off x="1256481" y="1121994"/>
            <a:ext cx="109728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 drying is highly affected by weather conditions.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Rainy or cloudy days slow down drying.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Rust, dust, and animal waste can contaminate fish.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airflow affects drying efficiency.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Spoilage may occur if environmental conditions are not monitored. 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IoT-based environmental monitoring system.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temperature, humidity, ammonia gas, and airflow.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unsafe environmental conditions.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real-time data to a cloud dashboard.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alerts when values exceed safe limits. 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Requirements Addressed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needs real-time drying environment monitoring.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needs early warning for spoilage.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needs alerts for unsafe conditions.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needs better control of drying quality.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needs historical environmental data for analysis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11668-EFF1-4C77-E0CB-E8359D5B3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7B08378-5A35-5926-41BF-09702FDD8581}"/>
              </a:ext>
            </a:extLst>
          </p:cNvPr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3" name="Freeform 3" descr="A picture containing photo, table, person, monitor  Description automatically generated">
              <a:extLst>
                <a:ext uri="{FF2B5EF4-FFF2-40B4-BE49-F238E27FC236}">
                  <a16:creationId xmlns:a16="http://schemas.microsoft.com/office/drawing/2014/main" id="{3061D56E-BC26-7391-46A9-C25610BA364F}"/>
                </a:ext>
              </a:extLst>
            </p:cNvPr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D3151652-EBFB-E0F3-2AE5-255135A312AC}"/>
              </a:ext>
            </a:extLst>
          </p:cNvPr>
          <p:cNvSpPr txBox="1"/>
          <p:nvPr/>
        </p:nvSpPr>
        <p:spPr>
          <a:xfrm>
            <a:off x="1256481" y="144356"/>
            <a:ext cx="1552396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b="1">
                <a:solidFill>
                  <a:srgbClr val="004AAD"/>
                </a:solidFill>
                <a:latin typeface="Cambria Bold"/>
                <a:ea typeface="Cambria Bold"/>
                <a:cs typeface="Cambria Bold"/>
                <a:sym typeface="Cambria Bold"/>
              </a:rPr>
              <a:t>Intelligent IoT-Based Multi-Parameter Environmental Monitoring for Fish Processing Optimization 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A9AE8AE6-81EB-2263-3753-D4399A0E3857}"/>
              </a:ext>
            </a:extLst>
          </p:cNvPr>
          <p:cNvGrpSpPr/>
          <p:nvPr/>
        </p:nvGrpSpPr>
        <p:grpSpPr>
          <a:xfrm>
            <a:off x="3771900" y="9025231"/>
            <a:ext cx="10224545" cy="1980251"/>
            <a:chOff x="0" y="0"/>
            <a:chExt cx="13632726" cy="2640335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4DD9B9E8-3C60-AEF7-6446-F34BA9A1CAA1}"/>
                </a:ext>
              </a:extLst>
            </p:cNvPr>
            <p:cNvSpPr/>
            <p:nvPr/>
          </p:nvSpPr>
          <p:spPr>
            <a:xfrm>
              <a:off x="0" y="0"/>
              <a:ext cx="13632731" cy="2640335"/>
            </a:xfrm>
            <a:custGeom>
              <a:avLst/>
              <a:gdLst/>
              <a:ahLst/>
              <a:cxnLst/>
              <a:rect l="l" t="t" r="r" b="b"/>
              <a:pathLst>
                <a:path w="13632731" h="2640335">
                  <a:moveTo>
                    <a:pt x="0" y="0"/>
                  </a:moveTo>
                  <a:lnTo>
                    <a:pt x="13632731" y="0"/>
                  </a:lnTo>
                  <a:lnTo>
                    <a:pt x="13632731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777" b="-14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213CFBF5-282D-580E-5831-921498A6EBE2}"/>
                </a:ext>
              </a:extLst>
            </p:cNvPr>
            <p:cNvSpPr txBox="1"/>
            <p:nvPr/>
          </p:nvSpPr>
          <p:spPr>
            <a:xfrm>
              <a:off x="0" y="-19050"/>
              <a:ext cx="13632726" cy="265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IT22340214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  |   Bandara CS</a:t>
              </a: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  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  R26-IT-028 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9388991-C69B-FD4A-8493-56969331B8F3}"/>
              </a:ext>
            </a:extLst>
          </p:cNvPr>
          <p:cNvSpPr txBox="1"/>
          <p:nvPr/>
        </p:nvSpPr>
        <p:spPr>
          <a:xfrm>
            <a:off x="1600200" y="1409681"/>
            <a:ext cx="109728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Excellence / Contribution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multiple environmental sensors in one system.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Ammonia detection helps identify early spoilage signs.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Airflow monitoring supports better drying efficiency.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Threshold-based alerts help operators take quick action.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sensor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Ammonia gas sensor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Airflow sensor 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accuracy.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transmission reliability.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generation accuracy.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standard measuring devices.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 during drying process.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55057F-A597-27F0-3539-9F5FE965F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3897973"/>
            <a:ext cx="7347997" cy="551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320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3" name="Freeform 3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0015357"/>
            <a:ext cx="18288000" cy="271643"/>
            <a:chOff x="0" y="0"/>
            <a:chExt cx="24384000" cy="3621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362204"/>
            </a:xfrm>
            <a:custGeom>
              <a:avLst/>
              <a:gdLst/>
              <a:ahLst/>
              <a:cxnLst/>
              <a:rect l="l" t="t" r="r" b="b"/>
              <a:pathLst>
                <a:path w="24384000" h="362204">
                  <a:moveTo>
                    <a:pt x="0" y="362204"/>
                  </a:moveTo>
                  <a:lnTo>
                    <a:pt x="9606534" y="0"/>
                  </a:lnTo>
                  <a:lnTo>
                    <a:pt x="24384000" y="362204"/>
                  </a:ln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362200" y="303133"/>
            <a:ext cx="12406983" cy="5604487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algn="ctr">
              <a:lnSpc>
                <a:spcPts val="6479"/>
              </a:lnSpc>
            </a:pPr>
            <a:r>
              <a:rPr lang="en-US" sz="53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AI-Based Multi-Sensor Quality Evaluation System for Dried Maldive Fish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119277" y="8937563"/>
            <a:ext cx="10224545" cy="1980251"/>
            <a:chOff x="0" y="0"/>
            <a:chExt cx="13632726" cy="26403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32731" cy="2640335"/>
            </a:xfrm>
            <a:custGeom>
              <a:avLst/>
              <a:gdLst/>
              <a:ahLst/>
              <a:cxnLst/>
              <a:rect l="l" t="t" r="r" b="b"/>
              <a:pathLst>
                <a:path w="13632731" h="2640335">
                  <a:moveTo>
                    <a:pt x="0" y="0"/>
                  </a:moveTo>
                  <a:lnTo>
                    <a:pt x="13632731" y="0"/>
                  </a:lnTo>
                  <a:lnTo>
                    <a:pt x="13632731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777" b="-14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3632726" cy="265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IT22224934   |   SANCHALA W K S</a:t>
              </a: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 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  R26-IT-028 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5060902" y="537068"/>
            <a:ext cx="2602306" cy="3345822"/>
          </a:xfrm>
          <a:custGeom>
            <a:avLst/>
            <a:gdLst/>
            <a:ahLst/>
            <a:cxnLst/>
            <a:rect l="l" t="t" r="r" b="b"/>
            <a:pathLst>
              <a:path w="2602306" h="3345822">
                <a:moveTo>
                  <a:pt x="0" y="0"/>
                </a:moveTo>
                <a:lnTo>
                  <a:pt x="2602306" y="0"/>
                </a:lnTo>
                <a:lnTo>
                  <a:pt x="2602306" y="3345822"/>
                </a:lnTo>
                <a:lnTo>
                  <a:pt x="0" y="33458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3" name="Freeform 3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087845" y="9023031"/>
            <a:ext cx="10224545" cy="1980251"/>
            <a:chOff x="0" y="0"/>
            <a:chExt cx="13632726" cy="26403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32731" cy="2640335"/>
            </a:xfrm>
            <a:custGeom>
              <a:avLst/>
              <a:gdLst/>
              <a:ahLst/>
              <a:cxnLst/>
              <a:rect l="l" t="t" r="r" b="b"/>
              <a:pathLst>
                <a:path w="13632731" h="2640335">
                  <a:moveTo>
                    <a:pt x="0" y="0"/>
                  </a:moveTo>
                  <a:lnTo>
                    <a:pt x="13632731" y="0"/>
                  </a:lnTo>
                  <a:lnTo>
                    <a:pt x="13632731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777" b="-14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3632726" cy="265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IT22224934   |   SANCHALA W K S</a:t>
              </a:r>
              <a:r>
                <a:rPr lang="en-US" sz="2700" b="1" dirty="0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 </a:t>
              </a:r>
              <a:r>
                <a:rPr lang="en-US" sz="2700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  R26-IT-028 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-2133600" y="-1104900"/>
            <a:ext cx="10663092" cy="7375065"/>
          </a:xfrm>
          <a:custGeom>
            <a:avLst/>
            <a:gdLst/>
            <a:ahLst/>
            <a:cxnLst/>
            <a:rect l="l" t="t" r="r" b="b"/>
            <a:pathLst>
              <a:path w="14365553" h="9935849">
                <a:moveTo>
                  <a:pt x="0" y="0"/>
                </a:moveTo>
                <a:lnTo>
                  <a:pt x="14365553" y="0"/>
                </a:lnTo>
                <a:lnTo>
                  <a:pt x="14365553" y="9935849"/>
                </a:lnTo>
                <a:lnTo>
                  <a:pt x="0" y="9935849"/>
                </a:lnTo>
                <a:close/>
              </a:path>
            </a:pathLst>
          </a:custGeom>
          <a:blipFill>
            <a:blip r:embed="rId4">
              <a:alphaModFix amt="0"/>
            </a:blip>
            <a:stretch>
              <a:fillRect l="-3094" r="-3094" b="-22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463040" y="179203"/>
            <a:ext cx="1536192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i="1">
                <a:solidFill>
                  <a:srgbClr val="004AAD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AI-Based Multi-Sensor Quality Evaluation System for Dried Maldive Fish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406F86-78B8-468A-9007-DFAE27A2DDC8}"/>
              </a:ext>
            </a:extLst>
          </p:cNvPr>
          <p:cNvSpPr txBox="1"/>
          <p:nvPr/>
        </p:nvSpPr>
        <p:spPr>
          <a:xfrm>
            <a:off x="1752600" y="1404015"/>
            <a:ext cx="930041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for dried fish quality is slow, inconsistent, and prone to human error.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Odor-based spoilage (related to VOCs) cannot be detected visually.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system exists for predicting expiry date using VOC levels in dried fish.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 sensor used to detect spoilage and estimate expiry date of dried Maldive fish.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AI-based image processing for quality grading.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system that uses VOC sensor data to predict fish shelf life.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Requirements Addressed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need to automatically predict the expiry date of dried fish.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need faster and more accurate quality inspection.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require real-time monitoring of fish quality and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spoilage.User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needs dashboard-based quality reports.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3" name="Freeform 3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350035" y="9023031"/>
            <a:ext cx="10224545" cy="1980251"/>
            <a:chOff x="0" y="0"/>
            <a:chExt cx="13632726" cy="26403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32731" cy="2640335"/>
            </a:xfrm>
            <a:custGeom>
              <a:avLst/>
              <a:gdLst/>
              <a:ahLst/>
              <a:cxnLst/>
              <a:rect l="l" t="t" r="r" b="b"/>
              <a:pathLst>
                <a:path w="13632731" h="2640335">
                  <a:moveTo>
                    <a:pt x="0" y="0"/>
                  </a:moveTo>
                  <a:lnTo>
                    <a:pt x="13632731" y="0"/>
                  </a:lnTo>
                  <a:lnTo>
                    <a:pt x="13632731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777" b="-14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3632726" cy="265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IT22224934   |   SANCHALA W K S</a:t>
              </a: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 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  R26-IT-028 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63040" y="179203"/>
            <a:ext cx="1536192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i="1">
                <a:solidFill>
                  <a:srgbClr val="004AAD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AI-Based Multi-Sensor Quality Evaluation System for Dried Maldive Fish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1CF31A-C20B-470E-29B3-7F6DA522CF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620605"/>
            <a:ext cx="7771530" cy="43714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87BBBE-E3F8-15B4-A4CB-3C48229A1B8D}"/>
              </a:ext>
            </a:extLst>
          </p:cNvPr>
          <p:cNvSpPr txBox="1"/>
          <p:nvPr/>
        </p:nvSpPr>
        <p:spPr>
          <a:xfrm>
            <a:off x="861977" y="1094379"/>
            <a:ext cx="914400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Excellence / Contribution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 sensor detects spoilage-related gases and predicts the expiry date of dried fish.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image processing handles visual defect detection and quality grading.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multi-sensor monitoring system for shelf life prediction.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                                                          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ResNet-18 (for image classification)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 sensor / MQ-135 (for spoilage detection)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/ ESP32 (for IoT integration)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system (for real-time monitoring)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– 78%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– 77%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78%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 – 77%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B48A21-E306-87D8-7489-7D38D12A7B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2307" y="4992091"/>
            <a:ext cx="7315200" cy="41523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B96DF-C2AF-59B4-5E39-4E26D94B1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42F63AF-CCF8-0F75-0198-CAEEF9E37D05}"/>
              </a:ext>
            </a:extLst>
          </p:cNvPr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3" name="Freeform 3" descr="A picture containing photo, table, person, monitor  Description automatically generated">
              <a:extLst>
                <a:ext uri="{FF2B5EF4-FFF2-40B4-BE49-F238E27FC236}">
                  <a16:creationId xmlns:a16="http://schemas.microsoft.com/office/drawing/2014/main" id="{E03A0BF9-1751-F172-99AD-43A151A49FF2}"/>
                </a:ext>
              </a:extLst>
            </p:cNvPr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901DB29-5752-96CB-95B5-BFDF7E26A45E}"/>
              </a:ext>
            </a:extLst>
          </p:cNvPr>
          <p:cNvGrpSpPr/>
          <p:nvPr/>
        </p:nvGrpSpPr>
        <p:grpSpPr>
          <a:xfrm>
            <a:off x="5350035" y="9023031"/>
            <a:ext cx="10224545" cy="1980251"/>
            <a:chOff x="0" y="0"/>
            <a:chExt cx="13632726" cy="264033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EC0AF8B-30F9-74E1-DDC8-EBB7F1A1BE8B}"/>
                </a:ext>
              </a:extLst>
            </p:cNvPr>
            <p:cNvSpPr/>
            <p:nvPr/>
          </p:nvSpPr>
          <p:spPr>
            <a:xfrm>
              <a:off x="0" y="0"/>
              <a:ext cx="13632731" cy="2640335"/>
            </a:xfrm>
            <a:custGeom>
              <a:avLst/>
              <a:gdLst/>
              <a:ahLst/>
              <a:cxnLst/>
              <a:rect l="l" t="t" r="r" b="b"/>
              <a:pathLst>
                <a:path w="13632731" h="2640335">
                  <a:moveTo>
                    <a:pt x="0" y="0"/>
                  </a:moveTo>
                  <a:lnTo>
                    <a:pt x="13632731" y="0"/>
                  </a:lnTo>
                  <a:lnTo>
                    <a:pt x="13632731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777" b="-14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F5472A4-92D0-361E-495F-B35FE97E554B}"/>
                </a:ext>
              </a:extLst>
            </p:cNvPr>
            <p:cNvSpPr txBox="1"/>
            <p:nvPr/>
          </p:nvSpPr>
          <p:spPr>
            <a:xfrm>
              <a:off x="0" y="-19050"/>
              <a:ext cx="13632726" cy="265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IT22224934   |   SANCHALA W K S</a:t>
              </a:r>
              <a:r>
                <a:rPr lang="en-US" sz="2700" b="1" dirty="0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 </a:t>
              </a:r>
              <a:r>
                <a:rPr lang="en-US" sz="2700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  R26-IT-028 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1CD7ABF6-22D0-B890-9751-60A12771664E}"/>
              </a:ext>
            </a:extLst>
          </p:cNvPr>
          <p:cNvSpPr txBox="1"/>
          <p:nvPr/>
        </p:nvSpPr>
        <p:spPr>
          <a:xfrm>
            <a:off x="1463040" y="179203"/>
            <a:ext cx="1536192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i="1">
                <a:solidFill>
                  <a:srgbClr val="004AAD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AI-Based Multi-Sensor Quality Evaluation System for Dried Maldive Fish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A8D146-179C-85BC-A5A3-CB0D10827E08}"/>
              </a:ext>
            </a:extLst>
          </p:cNvPr>
          <p:cNvSpPr txBox="1"/>
          <p:nvPr/>
        </p:nvSpPr>
        <p:spPr>
          <a:xfrm>
            <a:off x="1219200" y="1523322"/>
            <a:ext cx="119634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Commercialization and Sustainability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used in Maldive fish processing factories.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sold as an automated fish quality monitoring solution.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support small and medium seafood processing businesses.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used by seafood exporters to maintain quality standards.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Maldive fish processing factories.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Seafood export companies.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and medium fish processing industries.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 quality inspection laboratories.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Unique?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AI, IoT sensors, computer vision, VOC detection, and dashboard monitoring.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the full Maldive fish processing workflow.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raw fish inspection, processing optimization, drying monitoring, and final dried fish grading.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alerts and quality reports.</a:t>
            </a:r>
          </a:p>
        </p:txBody>
      </p:sp>
    </p:spTree>
    <p:extLst>
      <p:ext uri="{BB962C8B-B14F-4D97-AF65-F5344CB8AC3E}">
        <p14:creationId xmlns:p14="http://schemas.microsoft.com/office/powerpoint/2010/main" val="4066385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1650</Words>
  <Application>Microsoft Office PowerPoint</Application>
  <PresentationFormat>Custom</PresentationFormat>
  <Paragraphs>270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Childling</vt:lpstr>
      <vt:lpstr>Arimo Bold Italics</vt:lpstr>
      <vt:lpstr>Cambria Bold Italics</vt:lpstr>
      <vt:lpstr>Arimo Bold</vt:lpstr>
      <vt:lpstr>Times New Roman</vt:lpstr>
      <vt:lpstr>Calibri</vt:lpstr>
      <vt:lpstr>Montserrat Ultra-Bold</vt:lpstr>
      <vt:lpstr>Cambria</vt:lpstr>
      <vt:lpstr>Cambria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Template (1).pptx</dc:title>
  <dc:creator>Anju Ramesh</dc:creator>
  <cp:lastModifiedBy>SANCHALA W K S it22224934</cp:lastModifiedBy>
  <cp:revision>9</cp:revision>
  <dcterms:created xsi:type="dcterms:W3CDTF">2006-08-16T00:00:00Z</dcterms:created>
  <dcterms:modified xsi:type="dcterms:W3CDTF">2026-05-12T05:51:28Z</dcterms:modified>
  <dc:identifier>DAHDneQyZPI</dc:identifier>
</cp:coreProperties>
</file>